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pace Mono Bold" charset="1" panose="02000809030000020004"/>
      <p:regular r:id="rId17"/>
    </p:embeddedFon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 Bold Italics" charset="1" panose="020F07020304040A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6759" y="2258568"/>
            <a:ext cx="5669528" cy="5669528"/>
          </a:xfrm>
          <a:custGeom>
            <a:avLst/>
            <a:gdLst/>
            <a:ahLst/>
            <a:cxnLst/>
            <a:rect r="r" b="b" t="t" l="l"/>
            <a:pathLst>
              <a:path h="5669528" w="5669528">
                <a:moveTo>
                  <a:pt x="0" y="0"/>
                </a:moveTo>
                <a:lnTo>
                  <a:pt x="5669527" y="0"/>
                </a:lnTo>
                <a:lnTo>
                  <a:pt x="5669527" y="5669528"/>
                </a:lnTo>
                <a:lnTo>
                  <a:pt x="0" y="5669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0047" y="1456687"/>
            <a:ext cx="4584697" cy="744217"/>
            <a:chOff x="0" y="0"/>
            <a:chExt cx="6112929" cy="992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12891" cy="992251"/>
            </a:xfrm>
            <a:custGeom>
              <a:avLst/>
              <a:gdLst/>
              <a:ahLst/>
              <a:cxnLst/>
              <a:rect r="r" b="b" t="t" l="l"/>
              <a:pathLst>
                <a:path h="992251" w="6112891">
                  <a:moveTo>
                    <a:pt x="0" y="0"/>
                  </a:moveTo>
                  <a:lnTo>
                    <a:pt x="6112891" y="992251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0038" r="0" b="-70042"/>
              </a:stretch>
            </a:blip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5538447" y="1639567"/>
            <a:ext cx="2390137" cy="2938777"/>
            <a:chOff x="0" y="0"/>
            <a:chExt cx="3186849" cy="39183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6811" cy="3918331"/>
            </a:xfrm>
            <a:custGeom>
              <a:avLst/>
              <a:gdLst/>
              <a:ahLst/>
              <a:cxnLst/>
              <a:rect r="r" b="b" t="t" l="l"/>
              <a:pathLst>
                <a:path h="3918331" w="3186811">
                  <a:moveTo>
                    <a:pt x="0" y="0"/>
                  </a:moveTo>
                  <a:lnTo>
                    <a:pt x="3186811" y="3918331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-107756" t="0" r="-107757" b="0"/>
              </a:stretch>
            </a:blip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2047" y="2188207"/>
            <a:ext cx="561337" cy="6596377"/>
            <a:chOff x="0" y="0"/>
            <a:chExt cx="748449" cy="8795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8411" cy="8795131"/>
            </a:xfrm>
            <a:custGeom>
              <a:avLst/>
              <a:gdLst/>
              <a:ahLst/>
              <a:cxnLst/>
              <a:rect r="r" b="b" t="t" l="l"/>
              <a:pathLst>
                <a:path h="8795131" w="748411">
                  <a:moveTo>
                    <a:pt x="0" y="0"/>
                  </a:moveTo>
                  <a:lnTo>
                    <a:pt x="748411" y="8795131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-1457794" t="0" r="-1457799" b="0"/>
              </a:stretch>
            </a:blip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0047" y="1456687"/>
            <a:ext cx="378457" cy="7693657"/>
            <a:chOff x="0" y="0"/>
            <a:chExt cx="504609" cy="10258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4571" cy="10258171"/>
            </a:xfrm>
            <a:custGeom>
              <a:avLst/>
              <a:gdLst/>
              <a:ahLst/>
              <a:cxnLst/>
              <a:rect r="r" b="b" t="t" l="l"/>
              <a:pathLst>
                <a:path h="10258171" w="504571">
                  <a:moveTo>
                    <a:pt x="0" y="0"/>
                  </a:moveTo>
                  <a:lnTo>
                    <a:pt x="504571" y="10258171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-2558479" t="0" r="-2558486" b="0"/>
              </a:stretch>
            </a:blip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339334" y="1315974"/>
            <a:ext cx="294132" cy="294132"/>
            <a:chOff x="0" y="0"/>
            <a:chExt cx="392176" cy="392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00FF9C">
                <a:alpha val="48627"/>
              </a:srgbClr>
            </a:solidFill>
            <a:ln w="381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422392" y="1399032"/>
            <a:ext cx="128016" cy="128016"/>
            <a:chOff x="0" y="0"/>
            <a:chExt cx="170688" cy="170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FF9C">
                <a:alpha val="80784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911334" y="2047494"/>
            <a:ext cx="294132" cy="294132"/>
            <a:chOff x="0" y="0"/>
            <a:chExt cx="392176" cy="3921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FFD93D">
                <a:alpha val="48627"/>
              </a:srgbClr>
            </a:solidFill>
            <a:ln w="38100" cap="sq">
              <a:solidFill>
                <a:srgbClr val="FFD9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94392" y="2130552"/>
            <a:ext cx="128016" cy="128016"/>
            <a:chOff x="0" y="0"/>
            <a:chExt cx="170688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FFD93D">
                <a:alpha val="80784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397734" y="1498854"/>
            <a:ext cx="294132" cy="294132"/>
            <a:chOff x="0" y="0"/>
            <a:chExt cx="392176" cy="3921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00D4FF">
                <a:alpha val="48627"/>
              </a:srgbClr>
            </a:solidFill>
            <a:ln w="381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480792" y="1581912"/>
            <a:ext cx="128016" cy="128016"/>
            <a:chOff x="0" y="0"/>
            <a:chExt cx="170688" cy="170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D4FF">
                <a:alpha val="80784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822161" y="7533899"/>
            <a:ext cx="294132" cy="294132"/>
            <a:chOff x="0" y="0"/>
            <a:chExt cx="392176" cy="3921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FFD93D">
                <a:alpha val="48627"/>
              </a:srgbClr>
            </a:solidFill>
            <a:ln w="38100" cap="sq">
              <a:solidFill>
                <a:srgbClr val="FFD9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905219" y="7616957"/>
            <a:ext cx="128016" cy="128016"/>
            <a:chOff x="0" y="0"/>
            <a:chExt cx="170688" cy="1706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FFD93D">
                <a:alpha val="80784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459974" y="8631174"/>
            <a:ext cx="294132" cy="294132"/>
            <a:chOff x="0" y="0"/>
            <a:chExt cx="392176" cy="3921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FFD93D">
                <a:alpha val="48627"/>
              </a:srgbClr>
            </a:solidFill>
            <a:ln w="38100" cap="sq">
              <a:solidFill>
                <a:srgbClr val="FFD93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543032" y="8714232"/>
            <a:ext cx="128016" cy="128016"/>
            <a:chOff x="0" y="0"/>
            <a:chExt cx="170688" cy="1706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FFD93D">
                <a:alpha val="80784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05094" y="8996934"/>
            <a:ext cx="294132" cy="294132"/>
            <a:chOff x="0" y="0"/>
            <a:chExt cx="392176" cy="3921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00D4FF">
                <a:alpha val="48627"/>
              </a:srgbClr>
            </a:solidFill>
            <a:ln w="381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788152" y="9079992"/>
            <a:ext cx="128016" cy="128016"/>
            <a:chOff x="0" y="0"/>
            <a:chExt cx="170688" cy="1706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D4FF">
                <a:alpha val="80784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43713" y="6929628"/>
            <a:ext cx="294132" cy="294132"/>
            <a:chOff x="0" y="0"/>
            <a:chExt cx="392176" cy="3921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826771" y="7012686"/>
            <a:ext cx="128016" cy="128016"/>
            <a:chOff x="0" y="0"/>
            <a:chExt cx="170688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35483" y="5512308"/>
            <a:ext cx="294132" cy="294132"/>
            <a:chOff x="0" y="0"/>
            <a:chExt cx="392176" cy="3921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E74B30">
                <a:alpha val="48627"/>
              </a:srgbClr>
            </a:solidFill>
            <a:ln w="381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18541" y="5595366"/>
            <a:ext cx="128016" cy="128016"/>
            <a:chOff x="0" y="0"/>
            <a:chExt cx="170688" cy="1706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E74B30">
                <a:alpha val="80784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05840" y="2560320"/>
            <a:ext cx="8474707" cy="2513078"/>
            <a:chOff x="0" y="0"/>
            <a:chExt cx="11614812" cy="3444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614812" cy="3444240"/>
            </a:xfrm>
            <a:custGeom>
              <a:avLst/>
              <a:gdLst/>
              <a:ahLst/>
              <a:cxnLst/>
              <a:rect r="r" b="b" t="t" l="l"/>
              <a:pathLst>
                <a:path h="3444240" w="11614812">
                  <a:moveTo>
                    <a:pt x="0" y="0"/>
                  </a:moveTo>
                  <a:lnTo>
                    <a:pt x="11614812" y="0"/>
                  </a:lnTo>
                  <a:lnTo>
                    <a:pt x="11614812" y="3444240"/>
                  </a:lnTo>
                  <a:lnTo>
                    <a:pt x="0" y="3444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472" r="-15466" b="-1126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1614812" cy="3444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60"/>
                </a:lnSpc>
              </a:pPr>
              <a:r>
                <a:rPr lang="en-US" sz="118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Mind</a:t>
              </a:r>
              <a:r>
                <a:rPr lang="en-US" sz="11800" b="true">
                  <a:solidFill>
                    <a:srgbClr val="00D4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Verse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05840" y="4551426"/>
            <a:ext cx="10058400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Pare de ler sobre o conhecimento.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Caminhe por dentro dele.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61466" y="6796021"/>
            <a:ext cx="3670297" cy="12697"/>
            <a:chOff x="0" y="0"/>
            <a:chExt cx="4893729" cy="169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93691" cy="16891"/>
            </a:xfrm>
            <a:custGeom>
              <a:avLst/>
              <a:gdLst/>
              <a:ahLst/>
              <a:cxnLst/>
              <a:rect r="r" b="b" t="t" l="l"/>
              <a:pathLst>
                <a:path h="16891" w="4893691">
                  <a:moveTo>
                    <a:pt x="0" y="0"/>
                  </a:moveTo>
                  <a:lnTo>
                    <a:pt x="4893691" y="16891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5595171" r="0" b="-5595396"/>
              </a:stretch>
            </a:blip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05840" y="7223760"/>
            <a:ext cx="10972800" cy="548640"/>
            <a:chOff x="0" y="0"/>
            <a:chExt cx="14630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de Conhecimento Imersivo  ·  3D  ·  IA  ·  WebXR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43713" y="1983486"/>
            <a:ext cx="294132" cy="294132"/>
            <a:chOff x="0" y="0"/>
            <a:chExt cx="392176" cy="3921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826771" y="2066544"/>
            <a:ext cx="128016" cy="128016"/>
            <a:chOff x="0" y="0"/>
            <a:chExt cx="170688" cy="1706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00498" y="6993636"/>
            <a:ext cx="294132" cy="294132"/>
            <a:chOff x="0" y="0"/>
            <a:chExt cx="392176" cy="3921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E74B30">
                <a:alpha val="48627"/>
              </a:srgbClr>
            </a:solidFill>
            <a:ln w="381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8083556" y="7076694"/>
            <a:ext cx="128016" cy="128016"/>
            <a:chOff x="0" y="0"/>
            <a:chExt cx="170688" cy="1706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E74B30">
                <a:alpha val="80784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390497" y="9150344"/>
            <a:ext cx="294132" cy="294132"/>
            <a:chOff x="0" y="0"/>
            <a:chExt cx="392176" cy="3921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2176" cy="392176"/>
            </a:xfrm>
            <a:custGeom>
              <a:avLst/>
              <a:gdLst/>
              <a:ahLst/>
              <a:cxnLst/>
              <a:rect r="r" b="b" t="t" l="l"/>
              <a:pathLst>
                <a:path h="392176" w="39217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cubicBezTo>
                    <a:pt x="304419" y="0"/>
                    <a:pt x="392176" y="87757"/>
                    <a:pt x="392176" y="196088"/>
                  </a:cubicBezTo>
                  <a:cubicBezTo>
                    <a:pt x="392176" y="304419"/>
                    <a:pt x="304419" y="392176"/>
                    <a:pt x="196088" y="392176"/>
                  </a:cubicBezTo>
                  <a:cubicBezTo>
                    <a:pt x="87757" y="392176"/>
                    <a:pt x="0" y="304419"/>
                    <a:pt x="0" y="196088"/>
                  </a:cubicBezTo>
                  <a:close/>
                </a:path>
              </a:pathLst>
            </a:custGeom>
            <a:solidFill>
              <a:srgbClr val="00FF9C">
                <a:alpha val="48627"/>
              </a:srgbClr>
            </a:solidFill>
            <a:ln w="381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73555" y="9233402"/>
            <a:ext cx="128016" cy="128016"/>
            <a:chOff x="0" y="0"/>
            <a:chExt cx="170688" cy="1706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FF9C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5486400" cy="512064"/>
            <a:chOff x="0" y="0"/>
            <a:chExt cx="73152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/  O PROBLEMA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33856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Dor do </a:t>
              </a:r>
              <a:r>
                <a:rPr lang="en-US" sz="64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Conhecimento Fragmentado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1362" y="2505456"/>
            <a:ext cx="5323837" cy="6603997"/>
            <a:chOff x="0" y="0"/>
            <a:chExt cx="7098449" cy="880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98411" cy="8805291"/>
            </a:xfrm>
            <a:custGeom>
              <a:avLst/>
              <a:gdLst/>
              <a:ahLst/>
              <a:cxnLst/>
              <a:rect r="r" b="b" t="t" l="l"/>
              <a:pathLst>
                <a:path h="8805291" w="7098411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6853682" y="0"/>
                  </a:lnTo>
                  <a:cubicBezTo>
                    <a:pt x="6988810" y="0"/>
                    <a:pt x="7098411" y="109601"/>
                    <a:pt x="7098411" y="244729"/>
                  </a:cubicBezTo>
                  <a:lnTo>
                    <a:pt x="7098411" y="8560562"/>
                  </a:lnTo>
                  <a:cubicBezTo>
                    <a:pt x="7098411" y="8695690"/>
                    <a:pt x="6988810" y="8805291"/>
                    <a:pt x="6853682" y="8805291"/>
                  </a:cubicBezTo>
                  <a:lnTo>
                    <a:pt x="244729" y="8805291"/>
                  </a:lnTo>
                  <a:cubicBezTo>
                    <a:pt x="109601" y="8805291"/>
                    <a:pt x="0" y="8695690"/>
                    <a:pt x="0" y="8560562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0932" y="2875026"/>
            <a:ext cx="963673" cy="561337"/>
            <a:chOff x="0" y="0"/>
            <a:chExt cx="1284897" cy="7484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4859" cy="748411"/>
            </a:xfrm>
            <a:custGeom>
              <a:avLst/>
              <a:gdLst/>
              <a:ahLst/>
              <a:cxnLst/>
              <a:rect r="r" b="b" t="t" l="l"/>
              <a:pathLst>
                <a:path h="748411" w="1284859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1160145" y="0"/>
                  </a:lnTo>
                  <a:cubicBezTo>
                    <a:pt x="1228979" y="0"/>
                    <a:pt x="1284859" y="55880"/>
                    <a:pt x="1284859" y="124714"/>
                  </a:cubicBezTo>
                  <a:lnTo>
                    <a:pt x="1284859" y="623697"/>
                  </a:lnTo>
                  <a:cubicBezTo>
                    <a:pt x="1284859" y="692531"/>
                    <a:pt x="1228979" y="748411"/>
                    <a:pt x="1160145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FF6B6B">
                <a:alpha val="63922"/>
              </a:srgbClr>
            </a:solidFill>
            <a:ln w="127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5" y="2881379"/>
            <a:ext cx="950976" cy="548640"/>
            <a:chOff x="0" y="0"/>
            <a:chExt cx="1267968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7968" cy="731520"/>
            </a:xfrm>
            <a:custGeom>
              <a:avLst/>
              <a:gdLst/>
              <a:ahLst/>
              <a:cxnLst/>
              <a:rect r="r" b="b" t="t" l="l"/>
              <a:pathLst>
                <a:path h="73152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679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54885" y="2826515"/>
            <a:ext cx="822960" cy="822960"/>
            <a:chOff x="0" y="0"/>
            <a:chExt cx="1097280" cy="109728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5" y="3667763"/>
            <a:ext cx="4572000" cy="694944"/>
            <a:chOff x="0" y="0"/>
            <a:chExt cx="609600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0960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Sobrecarga Cognitiva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5" y="4362707"/>
            <a:ext cx="4572000" cy="512064"/>
            <a:chOff x="0" y="0"/>
            <a:chExt cx="60960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F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Infoxicação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97285" y="5028314"/>
            <a:ext cx="457200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O volume de informação cresce exponencialmente, mas nossas interfaces permanecem presas a formatos 2D — PDFs, wikis, blocos de texto infinitos.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82082" y="2505456"/>
            <a:ext cx="5323837" cy="6603997"/>
            <a:chOff x="0" y="0"/>
            <a:chExt cx="7098449" cy="88053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8411" cy="8805291"/>
            </a:xfrm>
            <a:custGeom>
              <a:avLst/>
              <a:gdLst/>
              <a:ahLst/>
              <a:cxnLst/>
              <a:rect r="r" b="b" t="t" l="l"/>
              <a:pathLst>
                <a:path h="8805291" w="7098411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6853682" y="0"/>
                  </a:lnTo>
                  <a:cubicBezTo>
                    <a:pt x="6988810" y="0"/>
                    <a:pt x="7098411" y="109601"/>
                    <a:pt x="7098411" y="244729"/>
                  </a:cubicBezTo>
                  <a:lnTo>
                    <a:pt x="7098411" y="8560562"/>
                  </a:lnTo>
                  <a:cubicBezTo>
                    <a:pt x="7098411" y="8695690"/>
                    <a:pt x="6988810" y="8805291"/>
                    <a:pt x="6853682" y="8805291"/>
                  </a:cubicBezTo>
                  <a:lnTo>
                    <a:pt x="244729" y="8805291"/>
                  </a:lnTo>
                  <a:cubicBezTo>
                    <a:pt x="109601" y="8805291"/>
                    <a:pt x="0" y="8695690"/>
                    <a:pt x="0" y="8560562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51652" y="2875026"/>
            <a:ext cx="963673" cy="561337"/>
            <a:chOff x="0" y="0"/>
            <a:chExt cx="1284897" cy="7484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4859" cy="748411"/>
            </a:xfrm>
            <a:custGeom>
              <a:avLst/>
              <a:gdLst/>
              <a:ahLst/>
              <a:cxnLst/>
              <a:rect r="r" b="b" t="t" l="l"/>
              <a:pathLst>
                <a:path h="748411" w="1284859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1160145" y="0"/>
                  </a:lnTo>
                  <a:cubicBezTo>
                    <a:pt x="1228979" y="0"/>
                    <a:pt x="1284859" y="55880"/>
                    <a:pt x="1284859" y="124714"/>
                  </a:cubicBezTo>
                  <a:lnTo>
                    <a:pt x="1284859" y="623697"/>
                  </a:lnTo>
                  <a:cubicBezTo>
                    <a:pt x="1284859" y="692531"/>
                    <a:pt x="1228979" y="748411"/>
                    <a:pt x="1160145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FFD93D">
                <a:alpha val="63922"/>
              </a:srgbClr>
            </a:solidFill>
            <a:ln w="12700" cap="sq">
              <a:solidFill>
                <a:srgbClr val="FFD9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58005" y="2881379"/>
            <a:ext cx="950976" cy="548640"/>
            <a:chOff x="0" y="0"/>
            <a:chExt cx="1267968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7968" cy="731520"/>
            </a:xfrm>
            <a:custGeom>
              <a:avLst/>
              <a:gdLst/>
              <a:ahLst/>
              <a:cxnLst/>
              <a:rect r="r" b="b" t="t" l="l"/>
              <a:pathLst>
                <a:path h="73152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679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D9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15605" y="2826515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58005" y="3667763"/>
            <a:ext cx="4572000" cy="694944"/>
            <a:chOff x="0" y="0"/>
            <a:chExt cx="609600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60960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Aprendizado Fragmentado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5" y="4362707"/>
            <a:ext cx="4572000" cy="512064"/>
            <a:chOff x="0" y="0"/>
            <a:chExt cx="609600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FD9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Conexões invisíveis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858005" y="5028314"/>
            <a:ext cx="457200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Em telas 2D é impossível visualizar como conceitos complexos se conectam. O cérebro humano evoluiu para mapear espaços físicos, não planilhas.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242802" y="2505456"/>
            <a:ext cx="5323837" cy="6603997"/>
            <a:chOff x="0" y="0"/>
            <a:chExt cx="7098449" cy="88053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98411" cy="8805291"/>
            </a:xfrm>
            <a:custGeom>
              <a:avLst/>
              <a:gdLst/>
              <a:ahLst/>
              <a:cxnLst/>
              <a:rect r="r" b="b" t="t" l="l"/>
              <a:pathLst>
                <a:path h="8805291" w="7098411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6853682" y="0"/>
                  </a:lnTo>
                  <a:cubicBezTo>
                    <a:pt x="6988810" y="0"/>
                    <a:pt x="7098411" y="109601"/>
                    <a:pt x="7098411" y="244729"/>
                  </a:cubicBezTo>
                  <a:lnTo>
                    <a:pt x="7098411" y="8560562"/>
                  </a:lnTo>
                  <a:cubicBezTo>
                    <a:pt x="7098411" y="8695690"/>
                    <a:pt x="6988810" y="8805291"/>
                    <a:pt x="6853682" y="8805291"/>
                  </a:cubicBezTo>
                  <a:lnTo>
                    <a:pt x="244729" y="8805291"/>
                  </a:lnTo>
                  <a:cubicBezTo>
                    <a:pt x="109601" y="8805291"/>
                    <a:pt x="0" y="8695690"/>
                    <a:pt x="0" y="8560562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612372" y="2875026"/>
            <a:ext cx="963673" cy="561337"/>
            <a:chOff x="0" y="0"/>
            <a:chExt cx="1284897" cy="748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4859" cy="748411"/>
            </a:xfrm>
            <a:custGeom>
              <a:avLst/>
              <a:gdLst/>
              <a:ahLst/>
              <a:cxnLst/>
              <a:rect r="r" b="b" t="t" l="l"/>
              <a:pathLst>
                <a:path h="748411" w="1284859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1160145" y="0"/>
                  </a:lnTo>
                  <a:cubicBezTo>
                    <a:pt x="1228979" y="0"/>
                    <a:pt x="1284859" y="55880"/>
                    <a:pt x="1284859" y="124714"/>
                  </a:cubicBezTo>
                  <a:lnTo>
                    <a:pt x="1284859" y="623697"/>
                  </a:lnTo>
                  <a:cubicBezTo>
                    <a:pt x="1284859" y="692531"/>
                    <a:pt x="1228979" y="748411"/>
                    <a:pt x="1160145" y="748411"/>
                  </a:cubicBezTo>
                  <a:lnTo>
                    <a:pt x="124714" y="748411"/>
                  </a:lnTo>
                  <a:cubicBezTo>
                    <a:pt x="55880" y="748411"/>
                    <a:pt x="0" y="692658"/>
                    <a:pt x="0" y="623697"/>
                  </a:cubicBezTo>
                  <a:close/>
                </a:path>
              </a:pathLst>
            </a:custGeom>
            <a:solidFill>
              <a:srgbClr val="00FF9C">
                <a:alpha val="63922"/>
              </a:srgbClr>
            </a:solidFill>
            <a:ln w="127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18725" y="2881379"/>
            <a:ext cx="950976" cy="548640"/>
            <a:chOff x="0" y="0"/>
            <a:chExt cx="1267968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67968" cy="731520"/>
            </a:xfrm>
            <a:custGeom>
              <a:avLst/>
              <a:gdLst/>
              <a:ahLst/>
              <a:cxnLst/>
              <a:rect r="r" b="b" t="t" l="l"/>
              <a:pathLst>
                <a:path h="73152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679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276325" y="2826515"/>
            <a:ext cx="822960" cy="822960"/>
            <a:chOff x="0" y="0"/>
            <a:chExt cx="1097280" cy="109728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18725" y="3667763"/>
            <a:ext cx="4572000" cy="694944"/>
            <a:chOff x="0" y="0"/>
            <a:chExt cx="609600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60960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Falta de Imersão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618725" y="4362707"/>
            <a:ext cx="4572000" cy="512064"/>
            <a:chOff x="0" y="0"/>
            <a:chExt cx="60960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FF9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Engajamento zero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618725" y="5028314"/>
            <a:ext cx="457200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tradicionais são passivas. O usuário apenas rola a tela, o que reduz drasticamente a retenção de memória e o engajamento.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04242" y="9258300"/>
            <a:ext cx="16479517" cy="788413"/>
            <a:chOff x="0" y="0"/>
            <a:chExt cx="21972689" cy="105121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72651" cy="1051179"/>
            </a:xfrm>
            <a:custGeom>
              <a:avLst/>
              <a:gdLst/>
              <a:ahLst/>
              <a:cxnLst/>
              <a:rect r="r" b="b" t="t" l="l"/>
              <a:pathLst>
                <a:path h="1051179" w="2197265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21722335" y="0"/>
                  </a:lnTo>
                  <a:cubicBezTo>
                    <a:pt x="21860511" y="0"/>
                    <a:pt x="21972651" y="112014"/>
                    <a:pt x="21972651" y="250317"/>
                  </a:cubicBezTo>
                  <a:lnTo>
                    <a:pt x="21972651" y="800862"/>
                  </a:lnTo>
                  <a:cubicBezTo>
                    <a:pt x="21972651" y="939038"/>
                    <a:pt x="21860638" y="1051179"/>
                    <a:pt x="21722335" y="1051179"/>
                  </a:cubicBezTo>
                  <a:lnTo>
                    <a:pt x="250317" y="1051179"/>
                  </a:lnTo>
                  <a:cubicBezTo>
                    <a:pt x="112014" y="1051179"/>
                    <a:pt x="0" y="939165"/>
                    <a:pt x="0" y="800862"/>
                  </a:cubicBezTo>
                  <a:close/>
                </a:path>
              </a:pathLst>
            </a:custGeom>
            <a:solidFill>
              <a:srgbClr val="0A1525"/>
            </a:solidFill>
            <a:ln w="2032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80165" y="9341615"/>
            <a:ext cx="15727680" cy="640080"/>
            <a:chOff x="0" y="0"/>
            <a:chExt cx="2097024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970239" cy="853440"/>
            </a:xfrm>
            <a:custGeom>
              <a:avLst/>
              <a:gdLst/>
              <a:ahLst/>
              <a:cxnLst/>
              <a:rect r="r" b="b" t="t" l="l"/>
              <a:pathLst>
                <a:path h="853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775" r="0" b="-42877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09702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8A9B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"Nosso maior desperdício não é de tempo, mas de atenção cognitiva em sistemas que não foram desenhados para o nosso cérebro."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5486400" cy="512064"/>
            <a:chOff x="0" y="0"/>
            <a:chExt cx="73152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/  A SOLUÇÃO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33856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Mapas</a:t>
              </a: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de Memória </a:t>
              </a:r>
              <a:r>
                <a:rPr lang="en-US" sz="64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Dinâmicos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8522" y="2505456"/>
            <a:ext cx="6421117" cy="6421117"/>
            <a:chOff x="0" y="0"/>
            <a:chExt cx="8561489" cy="85614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61451" cy="8561451"/>
            </a:xfrm>
            <a:custGeom>
              <a:avLst/>
              <a:gdLst/>
              <a:ahLst/>
              <a:cxnLst/>
              <a:rect r="r" b="b" t="t" l="l"/>
              <a:pathLst>
                <a:path h="8561451" w="8561451">
                  <a:moveTo>
                    <a:pt x="0" y="244602"/>
                  </a:moveTo>
                  <a:cubicBezTo>
                    <a:pt x="0" y="109474"/>
                    <a:pt x="109474" y="0"/>
                    <a:pt x="244602" y="0"/>
                  </a:cubicBezTo>
                  <a:lnTo>
                    <a:pt x="8316849" y="0"/>
                  </a:lnTo>
                  <a:cubicBezTo>
                    <a:pt x="8451977" y="0"/>
                    <a:pt x="8561451" y="109474"/>
                    <a:pt x="8561451" y="244602"/>
                  </a:cubicBezTo>
                  <a:lnTo>
                    <a:pt x="8561451" y="8316849"/>
                  </a:lnTo>
                  <a:cubicBezTo>
                    <a:pt x="8561451" y="8451977"/>
                    <a:pt x="8451977" y="8561451"/>
                    <a:pt x="8316849" y="8561451"/>
                  </a:cubicBezTo>
                  <a:lnTo>
                    <a:pt x="244602" y="8561451"/>
                  </a:lnTo>
                  <a:cubicBezTo>
                    <a:pt x="109474" y="8561451"/>
                    <a:pt x="0" y="8451977"/>
                    <a:pt x="0" y="8316849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5" y="2844803"/>
            <a:ext cx="1828800" cy="548640"/>
            <a:chOff x="0" y="0"/>
            <a:chExt cx="24384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A9B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HOJE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0972" y="3606546"/>
            <a:ext cx="2390137" cy="2109468"/>
            <a:chOff x="0" y="0"/>
            <a:chExt cx="3186849" cy="28126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86811" cy="2812558"/>
            </a:xfrm>
            <a:custGeom>
              <a:avLst/>
              <a:gdLst/>
              <a:ahLst/>
              <a:cxnLst/>
              <a:rect r="r" b="b" t="t" l="l"/>
              <a:pathLst>
                <a:path h="2812558" w="3186811">
                  <a:moveTo>
                    <a:pt x="0" y="216299"/>
                  </a:moveTo>
                  <a:cubicBezTo>
                    <a:pt x="0" y="96777"/>
                    <a:pt x="55118" y="0"/>
                    <a:pt x="123190" y="0"/>
                  </a:cubicBezTo>
                  <a:lnTo>
                    <a:pt x="3063621" y="0"/>
                  </a:lnTo>
                  <a:cubicBezTo>
                    <a:pt x="3131693" y="0"/>
                    <a:pt x="3186811" y="96777"/>
                    <a:pt x="3186811" y="216299"/>
                  </a:cubicBezTo>
                  <a:lnTo>
                    <a:pt x="3186811" y="2596259"/>
                  </a:lnTo>
                  <a:cubicBezTo>
                    <a:pt x="3186811" y="2715781"/>
                    <a:pt x="3131693" y="2812558"/>
                    <a:pt x="3063621" y="2812558"/>
                  </a:cubicBezTo>
                  <a:lnTo>
                    <a:pt x="123190" y="2812558"/>
                  </a:lnTo>
                  <a:cubicBezTo>
                    <a:pt x="55118" y="2812558"/>
                    <a:pt x="0" y="2715781"/>
                    <a:pt x="0" y="2596259"/>
                  </a:cubicBezTo>
                  <a:close/>
                </a:path>
              </a:pathLst>
            </a:custGeom>
            <a:solidFill>
              <a:srgbClr val="1A2A3A"/>
            </a:solid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25482" y="2505456"/>
            <a:ext cx="6603997" cy="6421117"/>
            <a:chOff x="0" y="0"/>
            <a:chExt cx="8805329" cy="85614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05291" cy="8561451"/>
            </a:xfrm>
            <a:custGeom>
              <a:avLst/>
              <a:gdLst/>
              <a:ahLst/>
              <a:cxnLst/>
              <a:rect r="r" b="b" t="t" l="l"/>
              <a:pathLst>
                <a:path h="8561451" w="8805291">
                  <a:moveTo>
                    <a:pt x="0" y="244602"/>
                  </a:moveTo>
                  <a:cubicBezTo>
                    <a:pt x="0" y="109474"/>
                    <a:pt x="109474" y="0"/>
                    <a:pt x="244602" y="0"/>
                  </a:cubicBezTo>
                  <a:lnTo>
                    <a:pt x="8560689" y="0"/>
                  </a:lnTo>
                  <a:cubicBezTo>
                    <a:pt x="8695817" y="0"/>
                    <a:pt x="8805291" y="109474"/>
                    <a:pt x="8805291" y="244602"/>
                  </a:cubicBezTo>
                  <a:lnTo>
                    <a:pt x="8805291" y="8316849"/>
                  </a:lnTo>
                  <a:cubicBezTo>
                    <a:pt x="8805291" y="8451977"/>
                    <a:pt x="8695817" y="8561451"/>
                    <a:pt x="8560689" y="8561451"/>
                  </a:cubicBezTo>
                  <a:lnTo>
                    <a:pt x="244602" y="8561451"/>
                  </a:lnTo>
                  <a:cubicBezTo>
                    <a:pt x="109474" y="8561451"/>
                    <a:pt x="0" y="8451977"/>
                    <a:pt x="0" y="8316849"/>
                  </a:cubicBezTo>
                  <a:close/>
                </a:path>
              </a:pathLst>
            </a:custGeom>
            <a:solidFill>
              <a:srgbClr val="071520"/>
            </a:solidFill>
            <a:ln w="2032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01405" y="2844803"/>
            <a:ext cx="4572000" cy="548640"/>
            <a:chOff x="0" y="0"/>
            <a:chExt cx="60960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MINDVERSE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52398" y="3600581"/>
            <a:ext cx="550164" cy="550164"/>
            <a:chOff x="0" y="0"/>
            <a:chExt cx="733552" cy="7335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00D4FF">
                <a:alpha val="48627"/>
              </a:srgbClr>
            </a:solidFill>
            <a:ln w="381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999464" y="3747647"/>
            <a:ext cx="256032" cy="256032"/>
            <a:chOff x="0" y="0"/>
            <a:chExt cx="341376" cy="3413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00D4FF">
                <a:alpha val="80784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2238" y="4332101"/>
            <a:ext cx="550164" cy="550164"/>
            <a:chOff x="0" y="0"/>
            <a:chExt cx="733552" cy="7335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719304" y="4479167"/>
            <a:ext cx="256032" cy="256032"/>
            <a:chOff x="0" y="0"/>
            <a:chExt cx="341376" cy="3413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132558" y="4514981"/>
            <a:ext cx="550164" cy="550164"/>
            <a:chOff x="0" y="0"/>
            <a:chExt cx="733552" cy="7335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00FF9C">
                <a:alpha val="48627"/>
              </a:srgbClr>
            </a:solidFill>
            <a:ln w="381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279624" y="4662047"/>
            <a:ext cx="256032" cy="256032"/>
            <a:chOff x="0" y="0"/>
            <a:chExt cx="341376" cy="341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00FF9C">
                <a:alpha val="80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120878" y="5795141"/>
            <a:ext cx="550164" cy="550164"/>
            <a:chOff x="0" y="0"/>
            <a:chExt cx="733552" cy="7335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00D4FF">
                <a:alpha val="48627"/>
              </a:srgbClr>
            </a:solidFill>
            <a:ln w="381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267944" y="5942207"/>
            <a:ext cx="256032" cy="256032"/>
            <a:chOff x="0" y="0"/>
            <a:chExt cx="341376" cy="341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00D4FF">
                <a:alpha val="80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583918" y="6160901"/>
            <a:ext cx="550164" cy="550164"/>
            <a:chOff x="0" y="0"/>
            <a:chExt cx="733552" cy="7335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00FF9C">
                <a:alpha val="48627"/>
              </a:srgbClr>
            </a:solidFill>
            <a:ln w="381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730984" y="6307967"/>
            <a:ext cx="256032" cy="256032"/>
            <a:chOff x="0" y="0"/>
            <a:chExt cx="341376" cy="3413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00FF9C">
                <a:alpha val="80784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852398" y="7075301"/>
            <a:ext cx="550164" cy="550164"/>
            <a:chOff x="0" y="0"/>
            <a:chExt cx="733552" cy="7335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999464" y="7222367"/>
            <a:ext cx="256032" cy="256032"/>
            <a:chOff x="0" y="0"/>
            <a:chExt cx="341376" cy="3413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33732" y="9183748"/>
            <a:ext cx="5499097" cy="780793"/>
            <a:chOff x="0" y="0"/>
            <a:chExt cx="7332129" cy="10410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32091" cy="1041019"/>
            </a:xfrm>
            <a:custGeom>
              <a:avLst/>
              <a:gdLst/>
              <a:ahLst/>
              <a:cxnLst/>
              <a:rect r="r" b="b" t="t" l="l"/>
              <a:pathLst>
                <a:path h="1041019" w="7332091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7208139" y="0"/>
                  </a:lnTo>
                  <a:cubicBezTo>
                    <a:pt x="7276592" y="0"/>
                    <a:pt x="7332091" y="55499"/>
                    <a:pt x="7332091" y="123952"/>
                  </a:cubicBezTo>
                  <a:lnTo>
                    <a:pt x="7332091" y="917067"/>
                  </a:lnTo>
                  <a:cubicBezTo>
                    <a:pt x="7332091" y="985520"/>
                    <a:pt x="7276592" y="1041019"/>
                    <a:pt x="7208139" y="1041019"/>
                  </a:cubicBezTo>
                  <a:lnTo>
                    <a:pt x="123952" y="1041019"/>
                  </a:lnTo>
                  <a:cubicBezTo>
                    <a:pt x="55499" y="1041019"/>
                    <a:pt x="0" y="985520"/>
                    <a:pt x="0" y="917067"/>
                  </a:cubicBezTo>
                  <a:close/>
                </a:path>
              </a:pathLst>
            </a:custGeom>
            <a:solidFill>
              <a:srgbClr val="0A1525"/>
            </a:solidFill>
            <a:ln w="127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5" y="9208389"/>
            <a:ext cx="4937760" cy="694944"/>
            <a:chOff x="0" y="0"/>
            <a:chExt cx="658368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Ingestão por IA  </a:t>
              </a:r>
              <a:r>
                <a:rPr lang="en-US" sz="17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Tópico ou PDF → grafo estruturado com pesos e categorias automáticos via IA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394452" y="9183748"/>
            <a:ext cx="5499097" cy="780793"/>
            <a:chOff x="0" y="0"/>
            <a:chExt cx="7332129" cy="10410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32091" cy="1041019"/>
            </a:xfrm>
            <a:custGeom>
              <a:avLst/>
              <a:gdLst/>
              <a:ahLst/>
              <a:cxnLst/>
              <a:rect r="r" b="b" t="t" l="l"/>
              <a:pathLst>
                <a:path h="1041019" w="7332091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7208139" y="0"/>
                  </a:lnTo>
                  <a:cubicBezTo>
                    <a:pt x="7276592" y="0"/>
                    <a:pt x="7332091" y="55499"/>
                    <a:pt x="7332091" y="123952"/>
                  </a:cubicBezTo>
                  <a:lnTo>
                    <a:pt x="7332091" y="917067"/>
                  </a:lnTo>
                  <a:cubicBezTo>
                    <a:pt x="7332091" y="985520"/>
                    <a:pt x="7276592" y="1041019"/>
                    <a:pt x="7208139" y="1041019"/>
                  </a:cubicBezTo>
                  <a:lnTo>
                    <a:pt x="123952" y="1041019"/>
                  </a:lnTo>
                  <a:cubicBezTo>
                    <a:pt x="55499" y="1041019"/>
                    <a:pt x="0" y="985520"/>
                    <a:pt x="0" y="917067"/>
                  </a:cubicBezTo>
                  <a:close/>
                </a:path>
              </a:pathLst>
            </a:custGeom>
            <a:solidFill>
              <a:srgbClr val="0A1525"/>
            </a:solidFill>
            <a:ln w="127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675125" y="9208389"/>
            <a:ext cx="4937760" cy="694944"/>
            <a:chOff x="0" y="0"/>
            <a:chExt cx="658368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Espaço Navegável  </a:t>
              </a:r>
              <a:r>
                <a:rPr lang="en-US" sz="17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WASD + mouse para voar livremente por dentro do mapa de conceitos em 3D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155172" y="9183748"/>
            <a:ext cx="5499097" cy="780793"/>
            <a:chOff x="0" y="0"/>
            <a:chExt cx="7332129" cy="10410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32091" cy="1041019"/>
            </a:xfrm>
            <a:custGeom>
              <a:avLst/>
              <a:gdLst/>
              <a:ahLst/>
              <a:cxnLst/>
              <a:rect r="r" b="b" t="t" l="l"/>
              <a:pathLst>
                <a:path h="1041019" w="7332091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7208139" y="0"/>
                  </a:lnTo>
                  <a:cubicBezTo>
                    <a:pt x="7276592" y="0"/>
                    <a:pt x="7332091" y="55499"/>
                    <a:pt x="7332091" y="123952"/>
                  </a:cubicBezTo>
                  <a:lnTo>
                    <a:pt x="7332091" y="917067"/>
                  </a:lnTo>
                  <a:cubicBezTo>
                    <a:pt x="7332091" y="985520"/>
                    <a:pt x="7276592" y="1041019"/>
                    <a:pt x="7208139" y="1041019"/>
                  </a:cubicBezTo>
                  <a:lnTo>
                    <a:pt x="123952" y="1041019"/>
                  </a:lnTo>
                  <a:cubicBezTo>
                    <a:pt x="55499" y="1041019"/>
                    <a:pt x="0" y="985520"/>
                    <a:pt x="0" y="917067"/>
                  </a:cubicBezTo>
                  <a:close/>
                </a:path>
              </a:pathLst>
            </a:custGeom>
            <a:solidFill>
              <a:srgbClr val="0A1525"/>
            </a:solidFill>
            <a:ln w="127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435845" y="9208389"/>
            <a:ext cx="4937760" cy="694944"/>
            <a:chOff x="0" y="0"/>
            <a:chExt cx="658368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Memória Espacial  </a:t>
              </a:r>
              <a:r>
                <a:rPr lang="en-US" sz="17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Une neurociência clássica (técnica de Loci) com tecnologia WebGL de última geração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887250" y="4077669"/>
            <a:ext cx="1437580" cy="1155292"/>
          </a:xfrm>
          <a:custGeom>
            <a:avLst/>
            <a:gdLst/>
            <a:ahLst/>
            <a:cxnLst/>
            <a:rect r="r" b="b" t="t" l="l"/>
            <a:pathLst>
              <a:path h="1155292" w="1437580">
                <a:moveTo>
                  <a:pt x="0" y="0"/>
                </a:moveTo>
                <a:lnTo>
                  <a:pt x="1437580" y="0"/>
                </a:lnTo>
                <a:lnTo>
                  <a:pt x="1437580" y="1155292"/>
                </a:lnTo>
                <a:lnTo>
                  <a:pt x="0" y="11552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600200" y="8025515"/>
            <a:ext cx="4937760" cy="694944"/>
            <a:chOff x="0" y="0"/>
            <a:chExt cx="658368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Conhecimentos desconectados em várias fontes separadas (PDFs, livros, wikis, etc)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154172" y="3600581"/>
            <a:ext cx="2390137" cy="2109468"/>
            <a:chOff x="0" y="0"/>
            <a:chExt cx="3186849" cy="281262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86811" cy="2812558"/>
            </a:xfrm>
            <a:custGeom>
              <a:avLst/>
              <a:gdLst/>
              <a:ahLst/>
              <a:cxnLst/>
              <a:rect r="r" b="b" t="t" l="l"/>
              <a:pathLst>
                <a:path h="2812558" w="3186811">
                  <a:moveTo>
                    <a:pt x="0" y="216299"/>
                  </a:moveTo>
                  <a:cubicBezTo>
                    <a:pt x="0" y="96777"/>
                    <a:pt x="55118" y="0"/>
                    <a:pt x="123190" y="0"/>
                  </a:cubicBezTo>
                  <a:lnTo>
                    <a:pt x="3063621" y="0"/>
                  </a:lnTo>
                  <a:cubicBezTo>
                    <a:pt x="3131693" y="0"/>
                    <a:pt x="3186811" y="96777"/>
                    <a:pt x="3186811" y="216299"/>
                  </a:cubicBezTo>
                  <a:lnTo>
                    <a:pt x="3186811" y="2596259"/>
                  </a:lnTo>
                  <a:cubicBezTo>
                    <a:pt x="3186811" y="2715781"/>
                    <a:pt x="3131693" y="2812558"/>
                    <a:pt x="3063621" y="2812558"/>
                  </a:cubicBezTo>
                  <a:lnTo>
                    <a:pt x="123190" y="2812558"/>
                  </a:lnTo>
                  <a:cubicBezTo>
                    <a:pt x="55118" y="2812558"/>
                    <a:pt x="0" y="2715781"/>
                    <a:pt x="0" y="2596259"/>
                  </a:cubicBezTo>
                  <a:close/>
                </a:path>
              </a:pathLst>
            </a:custGeom>
            <a:solidFill>
              <a:srgbClr val="1A2A3A"/>
            </a:solid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4850340" y="4043273"/>
            <a:ext cx="997800" cy="1236014"/>
          </a:xfrm>
          <a:custGeom>
            <a:avLst/>
            <a:gdLst/>
            <a:ahLst/>
            <a:cxnLst/>
            <a:rect r="r" b="b" t="t" l="l"/>
            <a:pathLst>
              <a:path h="1236014" w="997800">
                <a:moveTo>
                  <a:pt x="0" y="0"/>
                </a:moveTo>
                <a:lnTo>
                  <a:pt x="997800" y="0"/>
                </a:lnTo>
                <a:lnTo>
                  <a:pt x="997800" y="1236014"/>
                </a:lnTo>
                <a:lnTo>
                  <a:pt x="0" y="12360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410972" y="5830314"/>
            <a:ext cx="2390137" cy="2109468"/>
            <a:chOff x="0" y="0"/>
            <a:chExt cx="3186849" cy="281262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86811" cy="2812558"/>
            </a:xfrm>
            <a:custGeom>
              <a:avLst/>
              <a:gdLst/>
              <a:ahLst/>
              <a:cxnLst/>
              <a:rect r="r" b="b" t="t" l="l"/>
              <a:pathLst>
                <a:path h="2812558" w="3186811">
                  <a:moveTo>
                    <a:pt x="0" y="216299"/>
                  </a:moveTo>
                  <a:cubicBezTo>
                    <a:pt x="0" y="96777"/>
                    <a:pt x="55118" y="0"/>
                    <a:pt x="123190" y="0"/>
                  </a:cubicBezTo>
                  <a:lnTo>
                    <a:pt x="3063621" y="0"/>
                  </a:lnTo>
                  <a:cubicBezTo>
                    <a:pt x="3131693" y="0"/>
                    <a:pt x="3186811" y="96777"/>
                    <a:pt x="3186811" y="216299"/>
                  </a:cubicBezTo>
                  <a:lnTo>
                    <a:pt x="3186811" y="2596259"/>
                  </a:lnTo>
                  <a:cubicBezTo>
                    <a:pt x="3186811" y="2715781"/>
                    <a:pt x="3131693" y="2812558"/>
                    <a:pt x="3063621" y="2812558"/>
                  </a:cubicBezTo>
                  <a:lnTo>
                    <a:pt x="123190" y="2812558"/>
                  </a:lnTo>
                  <a:cubicBezTo>
                    <a:pt x="55118" y="2812558"/>
                    <a:pt x="0" y="2715781"/>
                    <a:pt x="0" y="2596259"/>
                  </a:cubicBezTo>
                  <a:close/>
                </a:path>
              </a:pathLst>
            </a:custGeom>
            <a:solidFill>
              <a:srgbClr val="1A2A3A"/>
            </a:solid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2093256" y="6177332"/>
            <a:ext cx="1025567" cy="1270410"/>
          </a:xfrm>
          <a:custGeom>
            <a:avLst/>
            <a:gdLst/>
            <a:ahLst/>
            <a:cxnLst/>
            <a:rect r="r" b="b" t="t" l="l"/>
            <a:pathLst>
              <a:path h="1270410" w="1025567">
                <a:moveTo>
                  <a:pt x="0" y="0"/>
                </a:moveTo>
                <a:lnTo>
                  <a:pt x="1025568" y="0"/>
                </a:lnTo>
                <a:lnTo>
                  <a:pt x="1025568" y="1270410"/>
                </a:lnTo>
                <a:lnTo>
                  <a:pt x="0" y="1270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4147823" y="5830314"/>
            <a:ext cx="2390137" cy="2109468"/>
            <a:chOff x="0" y="0"/>
            <a:chExt cx="3186849" cy="28126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86811" cy="2812558"/>
            </a:xfrm>
            <a:custGeom>
              <a:avLst/>
              <a:gdLst/>
              <a:ahLst/>
              <a:cxnLst/>
              <a:rect r="r" b="b" t="t" l="l"/>
              <a:pathLst>
                <a:path h="2812558" w="3186811">
                  <a:moveTo>
                    <a:pt x="0" y="216299"/>
                  </a:moveTo>
                  <a:cubicBezTo>
                    <a:pt x="0" y="96777"/>
                    <a:pt x="55118" y="0"/>
                    <a:pt x="123190" y="0"/>
                  </a:cubicBezTo>
                  <a:lnTo>
                    <a:pt x="3063621" y="0"/>
                  </a:lnTo>
                  <a:cubicBezTo>
                    <a:pt x="3131693" y="0"/>
                    <a:pt x="3186811" y="96777"/>
                    <a:pt x="3186811" y="216299"/>
                  </a:cubicBezTo>
                  <a:lnTo>
                    <a:pt x="3186811" y="2596259"/>
                  </a:lnTo>
                  <a:cubicBezTo>
                    <a:pt x="3186811" y="2715781"/>
                    <a:pt x="3131693" y="2812558"/>
                    <a:pt x="3063621" y="2812558"/>
                  </a:cubicBezTo>
                  <a:lnTo>
                    <a:pt x="123190" y="2812558"/>
                  </a:lnTo>
                  <a:cubicBezTo>
                    <a:pt x="55118" y="2812558"/>
                    <a:pt x="0" y="2715781"/>
                    <a:pt x="0" y="2596259"/>
                  </a:cubicBezTo>
                  <a:close/>
                </a:path>
              </a:pathLst>
            </a:custGeom>
            <a:solidFill>
              <a:srgbClr val="1A2A3A"/>
            </a:solidFill>
            <a:ln w="12700" cap="sq">
              <a:solidFill>
                <a:srgbClr val="3A4A5E"/>
              </a:solidFill>
              <a:prstDash val="solid"/>
              <a:miter/>
            </a:ln>
          </p:spPr>
        </p:sp>
      </p:grpSp>
      <p:sp>
        <p:nvSpPr>
          <p:cNvPr name="Freeform 71" id="71"/>
          <p:cNvSpPr/>
          <p:nvPr/>
        </p:nvSpPr>
        <p:spPr>
          <a:xfrm flipH="false" flipV="false" rot="0">
            <a:off x="4707687" y="6177332"/>
            <a:ext cx="1270410" cy="1270410"/>
          </a:xfrm>
          <a:custGeom>
            <a:avLst/>
            <a:gdLst/>
            <a:ahLst/>
            <a:cxnLst/>
            <a:rect r="r" b="b" t="t" l="l"/>
            <a:pathLst>
              <a:path h="1270410" w="1270410">
                <a:moveTo>
                  <a:pt x="0" y="0"/>
                </a:moveTo>
                <a:lnTo>
                  <a:pt x="1270410" y="0"/>
                </a:lnTo>
                <a:lnTo>
                  <a:pt x="1270410" y="1270410"/>
                </a:lnTo>
                <a:lnTo>
                  <a:pt x="0" y="1270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7736575" y="4594683"/>
            <a:ext cx="2631971" cy="1694032"/>
          </a:xfrm>
          <a:custGeom>
            <a:avLst/>
            <a:gdLst/>
            <a:ahLst/>
            <a:cxnLst/>
            <a:rect r="r" b="b" t="t" l="l"/>
            <a:pathLst>
              <a:path h="1694032" w="2631971">
                <a:moveTo>
                  <a:pt x="0" y="0"/>
                </a:moveTo>
                <a:lnTo>
                  <a:pt x="2631970" y="0"/>
                </a:lnTo>
                <a:lnTo>
                  <a:pt x="2631970" y="1694032"/>
                </a:lnTo>
                <a:lnTo>
                  <a:pt x="0" y="16940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3" id="73"/>
          <p:cNvSpPr/>
          <p:nvPr/>
        </p:nvSpPr>
        <p:spPr>
          <a:xfrm>
            <a:off x="14351341" y="4035564"/>
            <a:ext cx="832438" cy="594599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H="true">
            <a:off x="14946012" y="5051099"/>
            <a:ext cx="374616" cy="1123847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H="true">
            <a:off x="13086199" y="4012165"/>
            <a:ext cx="802402" cy="458516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 flipV="true">
            <a:off x="12943934" y="4864820"/>
            <a:ext cx="355412" cy="947766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H="true">
            <a:off x="14299329" y="6650794"/>
            <a:ext cx="387823" cy="484778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13532462" y="6309102"/>
            <a:ext cx="458516" cy="802402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13050866" y="4792224"/>
            <a:ext cx="1604589" cy="1458717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flipH="true">
            <a:off x="13482972" y="4136699"/>
            <a:ext cx="557496" cy="1672487"/>
          </a:xfrm>
          <a:prstGeom prst="line">
            <a:avLst/>
          </a:prstGeom>
          <a:ln cap="flat" w="38100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11658600" y="8025515"/>
            <a:ext cx="4937760" cy="694944"/>
            <a:chOff x="0" y="0"/>
            <a:chExt cx="658368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FF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Conhecimentos conectados por meio de grafos em um ambiente 3D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7315200" cy="512064"/>
            <a:chOff x="0" y="0"/>
            <a:chExt cx="97536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/  O AMBIENTE VIRTUAL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33856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Arquitetura do </a:t>
              </a:r>
              <a:r>
                <a:rPr lang="en-US" sz="64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Ambiente 3D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2797" y="2733037"/>
            <a:ext cx="5415277" cy="7061197"/>
            <a:chOff x="0" y="0"/>
            <a:chExt cx="7220369" cy="9414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20331" cy="9414891"/>
            </a:xfrm>
            <a:custGeom>
              <a:avLst/>
              <a:gdLst/>
              <a:ahLst/>
              <a:cxnLst/>
              <a:rect r="r" b="b" t="t" l="l"/>
              <a:pathLst>
                <a:path h="9414891" w="7220331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6975602" y="0"/>
                  </a:lnTo>
                  <a:cubicBezTo>
                    <a:pt x="7110730" y="0"/>
                    <a:pt x="7220331" y="109601"/>
                    <a:pt x="7220331" y="244729"/>
                  </a:cubicBezTo>
                  <a:lnTo>
                    <a:pt x="7220331" y="9170162"/>
                  </a:lnTo>
                  <a:cubicBezTo>
                    <a:pt x="7220331" y="9305290"/>
                    <a:pt x="7110730" y="9414891"/>
                    <a:pt x="6975602" y="9414891"/>
                  </a:cubicBezTo>
                  <a:lnTo>
                    <a:pt x="244729" y="9414891"/>
                  </a:lnTo>
                  <a:cubicBezTo>
                    <a:pt x="109601" y="9414891"/>
                    <a:pt x="0" y="9305290"/>
                    <a:pt x="0" y="9170162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10263" y="2730503"/>
            <a:ext cx="5420363" cy="1854203"/>
            <a:chOff x="0" y="0"/>
            <a:chExt cx="7227151" cy="24722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7188" cy="2472309"/>
            </a:xfrm>
            <a:custGeom>
              <a:avLst/>
              <a:gdLst/>
              <a:ahLst/>
              <a:cxnLst/>
              <a:rect r="r" b="b" t="t" l="l"/>
              <a:pathLst>
                <a:path h="2472309" w="7227188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6979920" y="0"/>
                  </a:lnTo>
                  <a:cubicBezTo>
                    <a:pt x="7116445" y="0"/>
                    <a:pt x="7227188" y="110744"/>
                    <a:pt x="7227188" y="247269"/>
                  </a:cubicBezTo>
                  <a:lnTo>
                    <a:pt x="7227188" y="2225040"/>
                  </a:lnTo>
                  <a:cubicBezTo>
                    <a:pt x="7227188" y="2361565"/>
                    <a:pt x="7116445" y="2472309"/>
                    <a:pt x="6979920" y="2472309"/>
                  </a:cubicBezTo>
                  <a:lnTo>
                    <a:pt x="247269" y="2472309"/>
                  </a:lnTo>
                  <a:cubicBezTo>
                    <a:pt x="110744" y="2472309"/>
                    <a:pt x="0" y="2361565"/>
                    <a:pt x="0" y="2225040"/>
                  </a:cubicBezTo>
                  <a:close/>
                </a:path>
              </a:pathLst>
            </a:custGeom>
            <a:solidFill>
              <a:srgbClr val="7B2FBE">
                <a:alpha val="3137"/>
              </a:srgbClr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017520" y="3017520"/>
            <a:ext cx="1097280" cy="1097280"/>
            <a:chOff x="0" y="0"/>
            <a:chExt cx="1463040" cy="14630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2144" y="4791456"/>
            <a:ext cx="4754880" cy="731520"/>
            <a:chOff x="0" y="0"/>
            <a:chExt cx="63398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enderização Espacial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52144" y="5621655"/>
            <a:ext cx="47548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O ambiente é construído nativamente em WebGL, gerenciado através do ecossistema Three.js e React Three Fiber.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5791" y="9101071"/>
            <a:ext cx="4767577" cy="469897"/>
            <a:chOff x="0" y="0"/>
            <a:chExt cx="6356769" cy="626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6858" cy="626618"/>
            </a:xfrm>
            <a:custGeom>
              <a:avLst/>
              <a:gdLst/>
              <a:ahLst/>
              <a:cxnLst/>
              <a:rect r="r" b="b" t="t" l="l"/>
              <a:pathLst>
                <a:path h="626618" w="6356858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6231509" y="0"/>
                  </a:lnTo>
                  <a:cubicBezTo>
                    <a:pt x="6300724" y="0"/>
                    <a:pt x="6356858" y="56134"/>
                    <a:pt x="6356858" y="125349"/>
                  </a:cubicBezTo>
                  <a:lnTo>
                    <a:pt x="6356858" y="501269"/>
                  </a:lnTo>
                  <a:cubicBezTo>
                    <a:pt x="6356858" y="570484"/>
                    <a:pt x="6300724" y="626618"/>
                    <a:pt x="6231509" y="626618"/>
                  </a:cubicBezTo>
                  <a:lnTo>
                    <a:pt x="125349" y="626618"/>
                  </a:lnTo>
                  <a:cubicBezTo>
                    <a:pt x="56134" y="626491"/>
                    <a:pt x="0" y="570484"/>
                    <a:pt x="0" y="501269"/>
                  </a:cubicBezTo>
                  <a:close/>
                </a:path>
              </a:pathLst>
            </a:custGeom>
            <a:solidFill>
              <a:srgbClr val="7B2FBE">
                <a:alpha val="3922"/>
              </a:srgbClr>
            </a:solidFill>
            <a:ln w="127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9107424"/>
            <a:ext cx="4754880" cy="457200"/>
            <a:chOff x="0" y="0"/>
            <a:chExt cx="633984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Three.js  /  WebGL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73517" y="2733037"/>
            <a:ext cx="5415277" cy="7061197"/>
            <a:chOff x="0" y="0"/>
            <a:chExt cx="7220369" cy="94149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20331" cy="9414891"/>
            </a:xfrm>
            <a:custGeom>
              <a:avLst/>
              <a:gdLst/>
              <a:ahLst/>
              <a:cxnLst/>
              <a:rect r="r" b="b" t="t" l="l"/>
              <a:pathLst>
                <a:path h="9414891" w="7220331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6975602" y="0"/>
                  </a:lnTo>
                  <a:cubicBezTo>
                    <a:pt x="7110730" y="0"/>
                    <a:pt x="7220331" y="109601"/>
                    <a:pt x="7220331" y="244729"/>
                  </a:cubicBezTo>
                  <a:lnTo>
                    <a:pt x="7220331" y="9170162"/>
                  </a:lnTo>
                  <a:cubicBezTo>
                    <a:pt x="7220331" y="9305290"/>
                    <a:pt x="7110730" y="9414891"/>
                    <a:pt x="6975602" y="9414891"/>
                  </a:cubicBezTo>
                  <a:lnTo>
                    <a:pt x="244729" y="9414891"/>
                  </a:lnTo>
                  <a:cubicBezTo>
                    <a:pt x="109601" y="9414891"/>
                    <a:pt x="0" y="9305290"/>
                    <a:pt x="0" y="9170162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70983" y="2730503"/>
            <a:ext cx="5420363" cy="1854203"/>
            <a:chOff x="0" y="0"/>
            <a:chExt cx="7227151" cy="24722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27188" cy="2472309"/>
            </a:xfrm>
            <a:custGeom>
              <a:avLst/>
              <a:gdLst/>
              <a:ahLst/>
              <a:cxnLst/>
              <a:rect r="r" b="b" t="t" l="l"/>
              <a:pathLst>
                <a:path h="2472309" w="7227188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6979920" y="0"/>
                  </a:lnTo>
                  <a:cubicBezTo>
                    <a:pt x="7116445" y="0"/>
                    <a:pt x="7227188" y="110744"/>
                    <a:pt x="7227188" y="247269"/>
                  </a:cubicBezTo>
                  <a:lnTo>
                    <a:pt x="7227188" y="2225040"/>
                  </a:lnTo>
                  <a:cubicBezTo>
                    <a:pt x="7227188" y="2361565"/>
                    <a:pt x="7116445" y="2472309"/>
                    <a:pt x="6979920" y="2472309"/>
                  </a:cubicBezTo>
                  <a:lnTo>
                    <a:pt x="247269" y="2472309"/>
                  </a:lnTo>
                  <a:cubicBezTo>
                    <a:pt x="110744" y="2472309"/>
                    <a:pt x="0" y="2361565"/>
                    <a:pt x="0" y="2225040"/>
                  </a:cubicBezTo>
                  <a:close/>
                </a:path>
              </a:pathLst>
            </a:custGeom>
            <a:solidFill>
              <a:srgbClr val="00D4FF">
                <a:alpha val="3137"/>
              </a:srgbClr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778240" y="3017520"/>
            <a:ext cx="1097280" cy="1097280"/>
            <a:chOff x="0" y="0"/>
            <a:chExt cx="1463040" cy="146304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12864" y="4791456"/>
            <a:ext cx="4754880" cy="731520"/>
            <a:chOff x="0" y="0"/>
            <a:chExt cx="633984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Grafos Vivos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912864" y="5621655"/>
            <a:ext cx="475488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O conhecimento flutua no centro do ambiente. Nós brilhantes (conceitos) conectados por elásticos de luz (sinapses), com física em tempo real gerenciada por D3-force.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906511" y="9101071"/>
            <a:ext cx="4767577" cy="469897"/>
            <a:chOff x="0" y="0"/>
            <a:chExt cx="6356769" cy="6265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6858" cy="626618"/>
            </a:xfrm>
            <a:custGeom>
              <a:avLst/>
              <a:gdLst/>
              <a:ahLst/>
              <a:cxnLst/>
              <a:rect r="r" b="b" t="t" l="l"/>
              <a:pathLst>
                <a:path h="626618" w="6356858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6231509" y="0"/>
                  </a:lnTo>
                  <a:cubicBezTo>
                    <a:pt x="6300724" y="0"/>
                    <a:pt x="6356858" y="56134"/>
                    <a:pt x="6356858" y="125349"/>
                  </a:cubicBezTo>
                  <a:lnTo>
                    <a:pt x="6356858" y="501269"/>
                  </a:lnTo>
                  <a:cubicBezTo>
                    <a:pt x="6356858" y="570484"/>
                    <a:pt x="6300724" y="626618"/>
                    <a:pt x="6231509" y="626618"/>
                  </a:cubicBezTo>
                  <a:lnTo>
                    <a:pt x="125349" y="626618"/>
                  </a:lnTo>
                  <a:cubicBezTo>
                    <a:pt x="56134" y="626491"/>
                    <a:pt x="0" y="570484"/>
                    <a:pt x="0" y="501269"/>
                  </a:cubicBezTo>
                  <a:close/>
                </a:path>
              </a:pathLst>
            </a:custGeom>
            <a:solidFill>
              <a:srgbClr val="00D4FF">
                <a:alpha val="3922"/>
              </a:srgbClr>
            </a:solid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912864" y="9107424"/>
            <a:ext cx="4754880" cy="457200"/>
            <a:chOff x="0" y="0"/>
            <a:chExt cx="633984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react-force-graph-3d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34237" y="2733037"/>
            <a:ext cx="5415277" cy="7061197"/>
            <a:chOff x="0" y="0"/>
            <a:chExt cx="7220369" cy="94149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20331" cy="9414891"/>
            </a:xfrm>
            <a:custGeom>
              <a:avLst/>
              <a:gdLst/>
              <a:ahLst/>
              <a:cxnLst/>
              <a:rect r="r" b="b" t="t" l="l"/>
              <a:pathLst>
                <a:path h="9414891" w="7220331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6975602" y="0"/>
                  </a:lnTo>
                  <a:cubicBezTo>
                    <a:pt x="7110730" y="0"/>
                    <a:pt x="7220331" y="109601"/>
                    <a:pt x="7220331" y="244729"/>
                  </a:cubicBezTo>
                  <a:lnTo>
                    <a:pt x="7220331" y="9170162"/>
                  </a:lnTo>
                  <a:cubicBezTo>
                    <a:pt x="7220331" y="9305290"/>
                    <a:pt x="7110730" y="9414891"/>
                    <a:pt x="6975602" y="9414891"/>
                  </a:cubicBezTo>
                  <a:lnTo>
                    <a:pt x="244729" y="9414891"/>
                  </a:lnTo>
                  <a:cubicBezTo>
                    <a:pt x="109601" y="9414891"/>
                    <a:pt x="0" y="9305290"/>
                    <a:pt x="0" y="9170162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31703" y="2730503"/>
            <a:ext cx="5420363" cy="1854203"/>
            <a:chOff x="0" y="0"/>
            <a:chExt cx="7227151" cy="24722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27188" cy="2472309"/>
            </a:xfrm>
            <a:custGeom>
              <a:avLst/>
              <a:gdLst/>
              <a:ahLst/>
              <a:cxnLst/>
              <a:rect r="r" b="b" t="t" l="l"/>
              <a:pathLst>
                <a:path h="2472309" w="7227188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6979920" y="0"/>
                  </a:lnTo>
                  <a:cubicBezTo>
                    <a:pt x="7116445" y="0"/>
                    <a:pt x="7227188" y="110744"/>
                    <a:pt x="7227188" y="247269"/>
                  </a:cubicBezTo>
                  <a:lnTo>
                    <a:pt x="7227188" y="2225040"/>
                  </a:lnTo>
                  <a:cubicBezTo>
                    <a:pt x="7227188" y="2361565"/>
                    <a:pt x="7116445" y="2472309"/>
                    <a:pt x="6979920" y="2472309"/>
                  </a:cubicBezTo>
                  <a:lnTo>
                    <a:pt x="247269" y="2472309"/>
                  </a:lnTo>
                  <a:cubicBezTo>
                    <a:pt x="110744" y="2472309"/>
                    <a:pt x="0" y="2361565"/>
                    <a:pt x="0" y="2225040"/>
                  </a:cubicBezTo>
                  <a:close/>
                </a:path>
              </a:pathLst>
            </a:custGeom>
            <a:solidFill>
              <a:srgbClr val="00FF9C">
                <a:alpha val="3137"/>
              </a:srgbClr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538960" y="3017520"/>
            <a:ext cx="1097280" cy="1097280"/>
            <a:chOff x="0" y="0"/>
            <a:chExt cx="1463040" cy="146304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673584" y="4791456"/>
            <a:ext cx="4754880" cy="731520"/>
            <a:chOff x="0" y="0"/>
            <a:chExt cx="633984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 In-World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673584" y="5621655"/>
            <a:ext cx="475488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Em vez de pop-ups HTML padrão, os painéis e métricas utilizam a Canvas API desenhada em texturas mapeadas sobre geometrias na cena 3D, permitindo integração visual imersiva.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667231" y="9101071"/>
            <a:ext cx="4767577" cy="469897"/>
            <a:chOff x="0" y="0"/>
            <a:chExt cx="6356769" cy="6265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56858" cy="626618"/>
            </a:xfrm>
            <a:custGeom>
              <a:avLst/>
              <a:gdLst/>
              <a:ahLst/>
              <a:cxnLst/>
              <a:rect r="r" b="b" t="t" l="l"/>
              <a:pathLst>
                <a:path h="626618" w="6356858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6231509" y="0"/>
                  </a:lnTo>
                  <a:cubicBezTo>
                    <a:pt x="6300724" y="0"/>
                    <a:pt x="6356858" y="56134"/>
                    <a:pt x="6356858" y="125349"/>
                  </a:cubicBezTo>
                  <a:lnTo>
                    <a:pt x="6356858" y="501269"/>
                  </a:lnTo>
                  <a:cubicBezTo>
                    <a:pt x="6356858" y="570484"/>
                    <a:pt x="6300724" y="626618"/>
                    <a:pt x="6231509" y="626618"/>
                  </a:cubicBezTo>
                  <a:lnTo>
                    <a:pt x="125349" y="626618"/>
                  </a:lnTo>
                  <a:cubicBezTo>
                    <a:pt x="56134" y="626491"/>
                    <a:pt x="0" y="570484"/>
                    <a:pt x="0" y="501269"/>
                  </a:cubicBezTo>
                  <a:close/>
                </a:path>
              </a:pathLst>
            </a:custGeom>
            <a:solidFill>
              <a:srgbClr val="00FF9C">
                <a:alpha val="3922"/>
              </a:srgbClr>
            </a:solidFill>
            <a:ln w="127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673584" y="9107424"/>
            <a:ext cx="4754880" cy="457200"/>
            <a:chOff x="0" y="0"/>
            <a:chExt cx="633984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Raycasting  /  HUD Glass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9144000" cy="512064"/>
            <a:chOff x="0" y="0"/>
            <a:chExt cx="121920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/  A JORNADA DO USUÁRIO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33856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Fluxo de </a:t>
              </a:r>
              <a:r>
                <a:rPr lang="en-US" sz="64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Navegação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4376" y="4099560"/>
            <a:ext cx="30480" cy="762000"/>
            <a:chOff x="0" y="0"/>
            <a:chExt cx="40640" cy="10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640">
                  <a:moveTo>
                    <a:pt x="0" y="0"/>
                  </a:moveTo>
                  <a:lnTo>
                    <a:pt x="40640" y="1016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157589" t="0" r="-3157589" b="0"/>
              </a:stretch>
            </a:blipFill>
            <a:ln w="30480" cap="sq">
              <a:solidFill>
                <a:srgbClr val="00D4FF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3143" y="2821943"/>
            <a:ext cx="1122683" cy="1122683"/>
            <a:chOff x="0" y="0"/>
            <a:chExt cx="1496911" cy="1496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0D4FF">
                <a:alpha val="72157"/>
              </a:srgbClr>
            </a:solidFill>
            <a:ln w="254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834640"/>
            <a:ext cx="1097280" cy="1097280"/>
            <a:chOff x="0" y="0"/>
            <a:chExt cx="14630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4630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58717" y="2733037"/>
            <a:ext cx="14833597" cy="1391917"/>
            <a:chOff x="0" y="0"/>
            <a:chExt cx="19778129" cy="18558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78090" cy="1855851"/>
            </a:xfrm>
            <a:custGeom>
              <a:avLst/>
              <a:gdLst/>
              <a:ahLst/>
              <a:cxnLst/>
              <a:rect r="r" b="b" t="t" l="l"/>
              <a:pathLst>
                <a:path h="1855851" w="19778090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19530695" y="0"/>
                  </a:lnTo>
                  <a:cubicBezTo>
                    <a:pt x="19667347" y="0"/>
                    <a:pt x="19778090" y="110744"/>
                    <a:pt x="19778090" y="247396"/>
                  </a:cubicBezTo>
                  <a:lnTo>
                    <a:pt x="19778090" y="1608455"/>
                  </a:lnTo>
                  <a:cubicBezTo>
                    <a:pt x="19778090" y="1745107"/>
                    <a:pt x="19667347" y="1855851"/>
                    <a:pt x="19530695" y="1855851"/>
                  </a:cubicBezTo>
                  <a:lnTo>
                    <a:pt x="247396" y="1855851"/>
                  </a:lnTo>
                  <a:cubicBezTo>
                    <a:pt x="110744" y="1855851"/>
                    <a:pt x="0" y="1745107"/>
                    <a:pt x="0" y="1608455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834640" y="2907792"/>
            <a:ext cx="4572000" cy="585216"/>
            <a:chOff x="0" y="0"/>
            <a:chExt cx="609600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0960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Ingestão de Dados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34640" y="3511296"/>
            <a:ext cx="14081760" cy="640080"/>
            <a:chOff x="0" y="0"/>
            <a:chExt cx="187756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7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77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Insira um tópico ou envie um PDF. Escolha a profundidade: Resumo, Equilibrado ou Mergulho.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4376" y="5836920"/>
            <a:ext cx="30480" cy="762000"/>
            <a:chOff x="0" y="0"/>
            <a:chExt cx="40640" cy="101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4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640">
                  <a:moveTo>
                    <a:pt x="0" y="0"/>
                  </a:moveTo>
                  <a:lnTo>
                    <a:pt x="40640" y="1016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157589" t="0" r="-3157589" b="0"/>
              </a:stretch>
            </a:blipFill>
            <a:ln w="30480" cap="sq">
              <a:solidFill>
                <a:srgbClr val="7B2FBE"/>
              </a:solidFill>
              <a:prstDash val="dash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93143" y="4559303"/>
            <a:ext cx="1122683" cy="1122683"/>
            <a:chOff x="0" y="0"/>
            <a:chExt cx="1496911" cy="14969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B2FBE">
                <a:alpha val="72157"/>
              </a:srgbClr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05840" y="4572000"/>
            <a:ext cx="1097280" cy="1097280"/>
            <a:chOff x="0" y="0"/>
            <a:chExt cx="146304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4630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458717" y="4470397"/>
            <a:ext cx="14833597" cy="1391917"/>
            <a:chOff x="0" y="0"/>
            <a:chExt cx="19778129" cy="18558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778090" cy="1855851"/>
            </a:xfrm>
            <a:custGeom>
              <a:avLst/>
              <a:gdLst/>
              <a:ahLst/>
              <a:cxnLst/>
              <a:rect r="r" b="b" t="t" l="l"/>
              <a:pathLst>
                <a:path h="1855851" w="19778090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19530695" y="0"/>
                  </a:lnTo>
                  <a:cubicBezTo>
                    <a:pt x="19667347" y="0"/>
                    <a:pt x="19778090" y="110744"/>
                    <a:pt x="19778090" y="247396"/>
                  </a:cubicBezTo>
                  <a:lnTo>
                    <a:pt x="19778090" y="1608455"/>
                  </a:lnTo>
                  <a:cubicBezTo>
                    <a:pt x="19778090" y="1745107"/>
                    <a:pt x="19667347" y="1855851"/>
                    <a:pt x="19530695" y="1855851"/>
                  </a:cubicBezTo>
                  <a:lnTo>
                    <a:pt x="247396" y="1855851"/>
                  </a:lnTo>
                  <a:cubicBezTo>
                    <a:pt x="110744" y="1855851"/>
                    <a:pt x="0" y="1745107"/>
                    <a:pt x="0" y="1608455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834640" y="4645152"/>
            <a:ext cx="4572000" cy="585216"/>
            <a:chOff x="0" y="0"/>
            <a:chExt cx="609600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0960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Geração Neural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834640" y="5248656"/>
            <a:ext cx="14081760" cy="640080"/>
            <a:chOff x="0" y="0"/>
            <a:chExt cx="1877568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77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877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IA estrutura o conhecimento e o WebGL desenha a topologia 3D. A câmera viaja da até a Biblioteca.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84376" y="7574280"/>
            <a:ext cx="30480" cy="762000"/>
            <a:chOff x="0" y="0"/>
            <a:chExt cx="40640" cy="1016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64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640">
                  <a:moveTo>
                    <a:pt x="0" y="0"/>
                  </a:moveTo>
                  <a:lnTo>
                    <a:pt x="40640" y="1016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157589" t="0" r="-3157589" b="0"/>
              </a:stretch>
            </a:blipFill>
            <a:ln w="30480" cap="sq">
              <a:solidFill>
                <a:srgbClr val="00FF9C"/>
              </a:solidFill>
              <a:prstDash val="dash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3143" y="6296663"/>
            <a:ext cx="1122683" cy="1122683"/>
            <a:chOff x="0" y="0"/>
            <a:chExt cx="1496911" cy="14969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0FF9C">
                <a:alpha val="72157"/>
              </a:srgbClr>
            </a:solidFill>
            <a:ln w="254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5840" y="6309360"/>
            <a:ext cx="1097280" cy="1097280"/>
            <a:chOff x="0" y="0"/>
            <a:chExt cx="146304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4630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458717" y="6207757"/>
            <a:ext cx="14833597" cy="1391917"/>
            <a:chOff x="0" y="0"/>
            <a:chExt cx="19778129" cy="185588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778090" cy="1855851"/>
            </a:xfrm>
            <a:custGeom>
              <a:avLst/>
              <a:gdLst/>
              <a:ahLst/>
              <a:cxnLst/>
              <a:rect r="r" b="b" t="t" l="l"/>
              <a:pathLst>
                <a:path h="1855851" w="19778090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19530695" y="0"/>
                  </a:lnTo>
                  <a:cubicBezTo>
                    <a:pt x="19667347" y="0"/>
                    <a:pt x="19778090" y="110744"/>
                    <a:pt x="19778090" y="247396"/>
                  </a:cubicBezTo>
                  <a:lnTo>
                    <a:pt x="19778090" y="1608455"/>
                  </a:lnTo>
                  <a:cubicBezTo>
                    <a:pt x="19778090" y="1745107"/>
                    <a:pt x="19667347" y="1855851"/>
                    <a:pt x="19530695" y="1855851"/>
                  </a:cubicBezTo>
                  <a:lnTo>
                    <a:pt x="247396" y="1855851"/>
                  </a:lnTo>
                  <a:cubicBezTo>
                    <a:pt x="110744" y="1855851"/>
                    <a:pt x="0" y="1745107"/>
                    <a:pt x="0" y="1608455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2834640" y="6382512"/>
            <a:ext cx="4572000" cy="585216"/>
            <a:chOff x="0" y="0"/>
            <a:chExt cx="609600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0960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Voo Livre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834640" y="6986016"/>
            <a:ext cx="14081760" cy="640080"/>
            <a:chOff x="0" y="0"/>
            <a:chExt cx="1877568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77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877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 WASD + mouse, o usuário flutua pelo espaço e observa a rede de conceitos de qualquer ângulo.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3143" y="8034023"/>
            <a:ext cx="1122683" cy="1122683"/>
            <a:chOff x="0" y="0"/>
            <a:chExt cx="1496911" cy="14969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F9F43">
                <a:alpha val="72157"/>
              </a:srgbClr>
            </a:solidFill>
            <a:ln w="25400" cap="sq">
              <a:solidFill>
                <a:srgbClr val="FF9F4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05840" y="8046720"/>
            <a:ext cx="1097280" cy="1097280"/>
            <a:chOff x="0" y="0"/>
            <a:chExt cx="146304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4630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458717" y="7945117"/>
            <a:ext cx="14833597" cy="1391917"/>
            <a:chOff x="0" y="0"/>
            <a:chExt cx="19778129" cy="185588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778090" cy="1855851"/>
            </a:xfrm>
            <a:custGeom>
              <a:avLst/>
              <a:gdLst/>
              <a:ahLst/>
              <a:cxnLst/>
              <a:rect r="r" b="b" t="t" l="l"/>
              <a:pathLst>
                <a:path h="1855851" w="19778090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19530695" y="0"/>
                  </a:lnTo>
                  <a:cubicBezTo>
                    <a:pt x="19667347" y="0"/>
                    <a:pt x="19778090" y="110744"/>
                    <a:pt x="19778090" y="247396"/>
                  </a:cubicBezTo>
                  <a:lnTo>
                    <a:pt x="19778090" y="1608455"/>
                  </a:lnTo>
                  <a:cubicBezTo>
                    <a:pt x="19778090" y="1745107"/>
                    <a:pt x="19667347" y="1855851"/>
                    <a:pt x="19530695" y="1855851"/>
                  </a:cubicBezTo>
                  <a:lnTo>
                    <a:pt x="247396" y="1855851"/>
                  </a:lnTo>
                  <a:cubicBezTo>
                    <a:pt x="110744" y="1855851"/>
                    <a:pt x="0" y="1745107"/>
                    <a:pt x="0" y="1608455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2834640" y="8119872"/>
            <a:ext cx="4572000" cy="585216"/>
            <a:chOff x="0" y="0"/>
            <a:chExt cx="6096000" cy="7802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60960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9F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Ancoragem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834640" y="8723376"/>
            <a:ext cx="14081760" cy="640080"/>
            <a:chOff x="0" y="0"/>
            <a:chExt cx="1877568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77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877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Ao se interessar por um conceito, o usuário voa até ele e mergulha nos detalhes — expandindo a rede a partir daquele ponto.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61380" y="4058926"/>
            <a:ext cx="386201" cy="386201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D4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61384" y="5805811"/>
            <a:ext cx="386201" cy="386201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61384" y="7533646"/>
            <a:ext cx="386201" cy="386201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FF9C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5486400" cy="512064"/>
            <a:chOff x="0" y="0"/>
            <a:chExt cx="73152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/  AS MECÂNICAS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33856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Interações </a:t>
              </a:r>
              <a:r>
                <a:rPr lang="en-US" sz="6400" b="true">
                  <a:solidFill>
                    <a:srgbClr val="00FF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Mecânicas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2797" y="2733037"/>
            <a:ext cx="8067037" cy="3220717"/>
            <a:chOff x="0" y="0"/>
            <a:chExt cx="10756049" cy="4294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56011" cy="4294251"/>
            </a:xfrm>
            <a:custGeom>
              <a:avLst/>
              <a:gdLst/>
              <a:ahLst/>
              <a:cxnLst/>
              <a:rect r="r" b="b" t="t" l="l"/>
              <a:pathLst>
                <a:path h="4294251" w="10756011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10510647" y="0"/>
                  </a:lnTo>
                  <a:cubicBezTo>
                    <a:pt x="10646156" y="0"/>
                    <a:pt x="10756011" y="109855"/>
                    <a:pt x="10756011" y="245364"/>
                  </a:cubicBezTo>
                  <a:lnTo>
                    <a:pt x="10756011" y="4048887"/>
                  </a:lnTo>
                  <a:cubicBezTo>
                    <a:pt x="10756011" y="4184396"/>
                    <a:pt x="10646156" y="4294251"/>
                    <a:pt x="10510647" y="4294251"/>
                  </a:cubicBezTo>
                  <a:lnTo>
                    <a:pt x="245364" y="4294251"/>
                  </a:lnTo>
                  <a:cubicBezTo>
                    <a:pt x="109855" y="4294251"/>
                    <a:pt x="0" y="4184396"/>
                    <a:pt x="0" y="4048887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651760" y="3204462"/>
            <a:ext cx="5852160" cy="694944"/>
            <a:chOff x="0" y="0"/>
            <a:chExt cx="780288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8028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</a:t>
              </a: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ssamento de Documentos (PDF)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25277" y="2733037"/>
            <a:ext cx="8067037" cy="3220717"/>
            <a:chOff x="0" y="0"/>
            <a:chExt cx="10756049" cy="42942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56011" cy="4294251"/>
            </a:xfrm>
            <a:custGeom>
              <a:avLst/>
              <a:gdLst/>
              <a:ahLst/>
              <a:cxnLst/>
              <a:rect r="r" b="b" t="t" l="l"/>
              <a:pathLst>
                <a:path h="4294251" w="10756011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10510647" y="0"/>
                  </a:lnTo>
                  <a:cubicBezTo>
                    <a:pt x="10646156" y="0"/>
                    <a:pt x="10756011" y="109855"/>
                    <a:pt x="10756011" y="245364"/>
                  </a:cubicBezTo>
                  <a:lnTo>
                    <a:pt x="10756011" y="4048887"/>
                  </a:lnTo>
                  <a:cubicBezTo>
                    <a:pt x="10756011" y="4184396"/>
                    <a:pt x="10646156" y="4294251"/>
                    <a:pt x="10510647" y="4294251"/>
                  </a:cubicBezTo>
                  <a:lnTo>
                    <a:pt x="245364" y="4294251"/>
                  </a:lnTo>
                  <a:cubicBezTo>
                    <a:pt x="109855" y="4294251"/>
                    <a:pt x="0" y="4184396"/>
                    <a:pt x="0" y="4048887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064240" y="3204462"/>
            <a:ext cx="5852160" cy="694944"/>
            <a:chOff x="0" y="0"/>
            <a:chExt cx="780288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8028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Persistência de Dados (Mapas Salvos)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2797" y="6390637"/>
            <a:ext cx="8067037" cy="3220717"/>
            <a:chOff x="0" y="0"/>
            <a:chExt cx="10756049" cy="4294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6011" cy="4294251"/>
            </a:xfrm>
            <a:custGeom>
              <a:avLst/>
              <a:gdLst/>
              <a:ahLst/>
              <a:cxnLst/>
              <a:rect r="r" b="b" t="t" l="l"/>
              <a:pathLst>
                <a:path h="4294251" w="10756011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10510647" y="0"/>
                  </a:lnTo>
                  <a:cubicBezTo>
                    <a:pt x="10646156" y="0"/>
                    <a:pt x="10756011" y="109855"/>
                    <a:pt x="10756011" y="245364"/>
                  </a:cubicBezTo>
                  <a:lnTo>
                    <a:pt x="10756011" y="4048887"/>
                  </a:lnTo>
                  <a:cubicBezTo>
                    <a:pt x="10756011" y="4184396"/>
                    <a:pt x="10646156" y="4294251"/>
                    <a:pt x="10510647" y="4294251"/>
                  </a:cubicBezTo>
                  <a:lnTo>
                    <a:pt x="245364" y="4294251"/>
                  </a:lnTo>
                  <a:cubicBezTo>
                    <a:pt x="109855" y="4294251"/>
                    <a:pt x="0" y="4184396"/>
                    <a:pt x="0" y="4048887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651760" y="6946454"/>
            <a:ext cx="5852160" cy="694944"/>
            <a:chOff x="0" y="0"/>
            <a:chExt cx="78028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8028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Expansão Dinâmica de Grafo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25277" y="6390637"/>
            <a:ext cx="8067037" cy="3220717"/>
            <a:chOff x="0" y="0"/>
            <a:chExt cx="10756049" cy="42942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56011" cy="4294251"/>
            </a:xfrm>
            <a:custGeom>
              <a:avLst/>
              <a:gdLst/>
              <a:ahLst/>
              <a:cxnLst/>
              <a:rect r="r" b="b" t="t" l="l"/>
              <a:pathLst>
                <a:path h="4294251" w="10756011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10510647" y="0"/>
                  </a:lnTo>
                  <a:cubicBezTo>
                    <a:pt x="10646156" y="0"/>
                    <a:pt x="10756011" y="109855"/>
                    <a:pt x="10756011" y="245364"/>
                  </a:cubicBezTo>
                  <a:lnTo>
                    <a:pt x="10756011" y="4048887"/>
                  </a:lnTo>
                  <a:cubicBezTo>
                    <a:pt x="10756011" y="4184396"/>
                    <a:pt x="10646156" y="4294251"/>
                    <a:pt x="10510647" y="4294251"/>
                  </a:cubicBezTo>
                  <a:lnTo>
                    <a:pt x="245364" y="4294251"/>
                  </a:lnTo>
                  <a:cubicBezTo>
                    <a:pt x="109855" y="4294251"/>
                    <a:pt x="0" y="4184396"/>
                    <a:pt x="0" y="4048887"/>
                  </a:cubicBezTo>
                  <a:close/>
                </a:path>
              </a:pathLst>
            </a:custGeom>
            <a:solidFill>
              <a:srgbClr val="0F1F33"/>
            </a:solidFill>
            <a:ln w="2032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064240" y="6946454"/>
            <a:ext cx="5852160" cy="694944"/>
            <a:chOff x="0" y="0"/>
            <a:chExt cx="780288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78028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Raycasting e Hitboxes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513935" y="7256774"/>
            <a:ext cx="1344962" cy="1247146"/>
          </a:xfrm>
          <a:custGeom>
            <a:avLst/>
            <a:gdLst/>
            <a:ahLst/>
            <a:cxnLst/>
            <a:rect r="r" b="b" t="t" l="l"/>
            <a:pathLst>
              <a:path h="1247146" w="1344962">
                <a:moveTo>
                  <a:pt x="0" y="0"/>
                </a:moveTo>
                <a:lnTo>
                  <a:pt x="1344962" y="0"/>
                </a:lnTo>
                <a:lnTo>
                  <a:pt x="1344962" y="1247146"/>
                </a:lnTo>
                <a:lnTo>
                  <a:pt x="0" y="124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627690" y="3707854"/>
            <a:ext cx="1117451" cy="1179651"/>
          </a:xfrm>
          <a:custGeom>
            <a:avLst/>
            <a:gdLst/>
            <a:ahLst/>
            <a:cxnLst/>
            <a:rect r="r" b="b" t="t" l="l"/>
            <a:pathLst>
              <a:path h="1179651" w="1117451">
                <a:moveTo>
                  <a:pt x="0" y="0"/>
                </a:moveTo>
                <a:lnTo>
                  <a:pt x="1117452" y="0"/>
                </a:lnTo>
                <a:lnTo>
                  <a:pt x="1117452" y="1179652"/>
                </a:lnTo>
                <a:lnTo>
                  <a:pt x="0" y="117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25296" y="7392091"/>
            <a:ext cx="1251698" cy="1247146"/>
          </a:xfrm>
          <a:custGeom>
            <a:avLst/>
            <a:gdLst/>
            <a:ahLst/>
            <a:cxnLst/>
            <a:rect r="r" b="b" t="t" l="l"/>
            <a:pathLst>
              <a:path h="1247146" w="1251698">
                <a:moveTo>
                  <a:pt x="0" y="0"/>
                </a:moveTo>
                <a:lnTo>
                  <a:pt x="1251698" y="0"/>
                </a:lnTo>
                <a:lnTo>
                  <a:pt x="1251698" y="1247146"/>
                </a:lnTo>
                <a:lnTo>
                  <a:pt x="0" y="1247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41519" y="3707854"/>
            <a:ext cx="1228169" cy="1392769"/>
          </a:xfrm>
          <a:custGeom>
            <a:avLst/>
            <a:gdLst/>
            <a:ahLst/>
            <a:cxnLst/>
            <a:rect r="r" b="b" t="t" l="l"/>
            <a:pathLst>
              <a:path h="1392769" w="1228169">
                <a:moveTo>
                  <a:pt x="0" y="0"/>
                </a:moveTo>
                <a:lnTo>
                  <a:pt x="1228169" y="0"/>
                </a:lnTo>
                <a:lnTo>
                  <a:pt x="1228169" y="1392769"/>
                </a:lnTo>
                <a:lnTo>
                  <a:pt x="0" y="13927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651760" y="3906645"/>
            <a:ext cx="58521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 Ingestã</a:t>
            </a: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o de arquivos com extração de texto. O texto extraído atua como contexto estrito no prompt da IA, forçando a geração de topologias baseadas exclusivamente no documento fornecido.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64240" y="3906645"/>
            <a:ext cx="58521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ermite o carregamento e o reposicionamento instantâneo da simulação 3D e da física do grafo via localStorage sem necessidade de reprocessamento na API de IA.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51760" y="7648637"/>
            <a:ext cx="58521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 usuário pode expandir a rede a partir de nós individuais. O frontend envia a requisição de contexto parcial para a API, e os novos sub-nós são injetados em tempo real no estado do React.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64240" y="7648637"/>
            <a:ext cx="585216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Inte</a:t>
            </a: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rações com elementos do ambiente utilizam projeção de raios (Raycaster) calculando a interseção com coordenadas UV dos objetos 3D.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0972800" cy="512064"/>
            <a:chOff x="0" y="0"/>
            <a:chExt cx="146304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/  POR QUE O MINDVERSE VENCE?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133856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 </a:t>
              </a:r>
              <a:r>
                <a:rPr lang="en-US" sz="64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Diferenciais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1155" y="2733037"/>
            <a:ext cx="4100399" cy="6525263"/>
            <a:chOff x="0" y="0"/>
            <a:chExt cx="1079940" cy="1718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940" cy="1718588"/>
            </a:xfrm>
            <a:custGeom>
              <a:avLst/>
              <a:gdLst/>
              <a:ahLst/>
              <a:cxnLst/>
              <a:rect r="r" b="b" t="t" l="l"/>
              <a:pathLst>
                <a:path h="1718588" w="1079940">
                  <a:moveTo>
                    <a:pt x="30209" y="0"/>
                  </a:moveTo>
                  <a:lnTo>
                    <a:pt x="1049731" y="0"/>
                  </a:lnTo>
                  <a:cubicBezTo>
                    <a:pt x="1066415" y="0"/>
                    <a:pt x="1079940" y="13525"/>
                    <a:pt x="1079940" y="30209"/>
                  </a:cubicBezTo>
                  <a:lnTo>
                    <a:pt x="1079940" y="1688379"/>
                  </a:lnTo>
                  <a:cubicBezTo>
                    <a:pt x="1079940" y="1705063"/>
                    <a:pt x="1066415" y="1718588"/>
                    <a:pt x="1049731" y="1718588"/>
                  </a:cubicBezTo>
                  <a:lnTo>
                    <a:pt x="30209" y="1718588"/>
                  </a:lnTo>
                  <a:cubicBezTo>
                    <a:pt x="13525" y="1718588"/>
                    <a:pt x="0" y="1705063"/>
                    <a:pt x="0" y="1688379"/>
                  </a:cubicBezTo>
                  <a:lnTo>
                    <a:pt x="0" y="30209"/>
                  </a:lnTo>
                  <a:cubicBezTo>
                    <a:pt x="0" y="13525"/>
                    <a:pt x="13525" y="0"/>
                    <a:pt x="30209" y="0"/>
                  </a:cubicBezTo>
                  <a:close/>
                </a:path>
              </a:pathLst>
            </a:custGeom>
            <a:solidFill>
              <a:srgbClr val="0F1F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79940" cy="1775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66738" y="2980944"/>
            <a:ext cx="1129233" cy="1097280"/>
            <a:chOff x="0" y="0"/>
            <a:chExt cx="1505645" cy="146304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05645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05645">
                  <a:moveTo>
                    <a:pt x="0" y="0"/>
                  </a:moveTo>
                  <a:lnTo>
                    <a:pt x="1505645" y="0"/>
                  </a:lnTo>
                  <a:lnTo>
                    <a:pt x="1505645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56" r="0" b="-145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57719" y="4192524"/>
            <a:ext cx="2966672" cy="909228"/>
            <a:chOff x="0" y="0"/>
            <a:chExt cx="3955563" cy="12123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55562" cy="1212304"/>
            </a:xfrm>
            <a:custGeom>
              <a:avLst/>
              <a:gdLst/>
              <a:ahLst/>
              <a:cxnLst/>
              <a:rect r="r" b="b" t="t" l="l"/>
              <a:pathLst>
                <a:path h="1212304" w="3955562">
                  <a:moveTo>
                    <a:pt x="0" y="0"/>
                  </a:moveTo>
                  <a:lnTo>
                    <a:pt x="3955562" y="0"/>
                  </a:lnTo>
                  <a:lnTo>
                    <a:pt x="3955562" y="1212304"/>
                  </a:lnTo>
                  <a:lnTo>
                    <a:pt x="0" y="1212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93" r="-103427" b="-715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955563" cy="12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 como Arquiteta de Dados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93801" y="2733037"/>
            <a:ext cx="4100399" cy="6525263"/>
            <a:chOff x="0" y="0"/>
            <a:chExt cx="1079940" cy="17185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9940" cy="1718588"/>
            </a:xfrm>
            <a:custGeom>
              <a:avLst/>
              <a:gdLst/>
              <a:ahLst/>
              <a:cxnLst/>
              <a:rect r="r" b="b" t="t" l="l"/>
              <a:pathLst>
                <a:path h="1718588" w="1079940">
                  <a:moveTo>
                    <a:pt x="30209" y="0"/>
                  </a:moveTo>
                  <a:lnTo>
                    <a:pt x="1049731" y="0"/>
                  </a:lnTo>
                  <a:cubicBezTo>
                    <a:pt x="1066415" y="0"/>
                    <a:pt x="1079940" y="13525"/>
                    <a:pt x="1079940" y="30209"/>
                  </a:cubicBezTo>
                  <a:lnTo>
                    <a:pt x="1079940" y="1688379"/>
                  </a:lnTo>
                  <a:cubicBezTo>
                    <a:pt x="1079940" y="1705063"/>
                    <a:pt x="1066415" y="1718588"/>
                    <a:pt x="1049731" y="1718588"/>
                  </a:cubicBezTo>
                  <a:lnTo>
                    <a:pt x="30209" y="1718588"/>
                  </a:lnTo>
                  <a:cubicBezTo>
                    <a:pt x="13525" y="1718588"/>
                    <a:pt x="0" y="1705063"/>
                    <a:pt x="0" y="1688379"/>
                  </a:cubicBezTo>
                  <a:lnTo>
                    <a:pt x="0" y="30209"/>
                  </a:lnTo>
                  <a:cubicBezTo>
                    <a:pt x="0" y="13525"/>
                    <a:pt x="13525" y="0"/>
                    <a:pt x="30209" y="0"/>
                  </a:cubicBezTo>
                  <a:close/>
                </a:path>
              </a:pathLst>
            </a:custGeom>
            <a:solidFill>
              <a:srgbClr val="0F1F3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79940" cy="1775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34656" y="4192524"/>
            <a:ext cx="3008373" cy="768096"/>
            <a:chOff x="0" y="0"/>
            <a:chExt cx="4011164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1116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11164">
                  <a:moveTo>
                    <a:pt x="0" y="0"/>
                  </a:moveTo>
                  <a:lnTo>
                    <a:pt x="4011164" y="0"/>
                  </a:lnTo>
                  <a:lnTo>
                    <a:pt x="40111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-100608" b="-1030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011164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Navegaçã</a:t>
              </a: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Espacial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95360" y="2980944"/>
            <a:ext cx="1097280" cy="1097280"/>
            <a:chOff x="0" y="0"/>
            <a:chExt cx="1463040" cy="146304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08649" y="2733037"/>
            <a:ext cx="4100399" cy="6525263"/>
            <a:chOff x="0" y="0"/>
            <a:chExt cx="1079940" cy="17185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940" cy="1718588"/>
            </a:xfrm>
            <a:custGeom>
              <a:avLst/>
              <a:gdLst/>
              <a:ahLst/>
              <a:cxnLst/>
              <a:rect r="r" b="b" t="t" l="l"/>
              <a:pathLst>
                <a:path h="1718588" w="1079940">
                  <a:moveTo>
                    <a:pt x="30209" y="0"/>
                  </a:moveTo>
                  <a:lnTo>
                    <a:pt x="1049731" y="0"/>
                  </a:lnTo>
                  <a:cubicBezTo>
                    <a:pt x="1066415" y="0"/>
                    <a:pt x="1079940" y="13525"/>
                    <a:pt x="1079940" y="30209"/>
                  </a:cubicBezTo>
                  <a:lnTo>
                    <a:pt x="1079940" y="1688379"/>
                  </a:lnTo>
                  <a:cubicBezTo>
                    <a:pt x="1079940" y="1705063"/>
                    <a:pt x="1066415" y="1718588"/>
                    <a:pt x="1049731" y="1718588"/>
                  </a:cubicBezTo>
                  <a:lnTo>
                    <a:pt x="30209" y="1718588"/>
                  </a:lnTo>
                  <a:cubicBezTo>
                    <a:pt x="13525" y="1718588"/>
                    <a:pt x="0" y="1705063"/>
                    <a:pt x="0" y="1688379"/>
                  </a:cubicBezTo>
                  <a:lnTo>
                    <a:pt x="0" y="30209"/>
                  </a:lnTo>
                  <a:cubicBezTo>
                    <a:pt x="0" y="13525"/>
                    <a:pt x="13525" y="0"/>
                    <a:pt x="30209" y="0"/>
                  </a:cubicBezTo>
                  <a:close/>
                </a:path>
              </a:pathLst>
            </a:custGeom>
            <a:solidFill>
              <a:srgbClr val="0F1F3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79940" cy="1775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73744" y="4192524"/>
            <a:ext cx="3570210" cy="909228"/>
            <a:chOff x="0" y="0"/>
            <a:chExt cx="4760279" cy="12123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60279" cy="1212304"/>
            </a:xfrm>
            <a:custGeom>
              <a:avLst/>
              <a:gdLst/>
              <a:ahLst/>
              <a:cxnLst/>
              <a:rect r="r" b="b" t="t" l="l"/>
              <a:pathLst>
                <a:path h="1212304" w="4760279">
                  <a:moveTo>
                    <a:pt x="0" y="0"/>
                  </a:moveTo>
                  <a:lnTo>
                    <a:pt x="4760279" y="0"/>
                  </a:lnTo>
                  <a:lnTo>
                    <a:pt x="4760279" y="1212304"/>
                  </a:lnTo>
                  <a:lnTo>
                    <a:pt x="0" y="1212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93" r="-69038" b="-7157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760279" cy="12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Expa</a:t>
              </a: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nsão Topológica Sob Demanda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048583" y="2971967"/>
            <a:ext cx="1020532" cy="1020532"/>
          </a:xfrm>
          <a:custGeom>
            <a:avLst/>
            <a:gdLst/>
            <a:ahLst/>
            <a:cxnLst/>
            <a:rect r="r" b="b" t="t" l="l"/>
            <a:pathLst>
              <a:path h="1020532" w="1020532">
                <a:moveTo>
                  <a:pt x="0" y="0"/>
                </a:moveTo>
                <a:lnTo>
                  <a:pt x="1020531" y="0"/>
                </a:lnTo>
                <a:lnTo>
                  <a:pt x="1020531" y="1020532"/>
                </a:lnTo>
                <a:lnTo>
                  <a:pt x="0" y="102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057719" y="5253476"/>
            <a:ext cx="3347271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A inteligência artificial </a:t>
            </a: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não gera apenas texto. Ela funciona como um processador de banco de dados topológico, calculando pesos, categorias e conexões semânticas para entregar o conhecimento já mapeado para o motor gráfico.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70365" y="5253476"/>
            <a:ext cx="3347271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Ao contrário de ferramentas tradicionais de mapas mentais estáticos, o sistema explora o eixo Z. Isso transforma a leitura passiva em exploração espacial, ativando a memória de localização humana para aumentar drasticamente a retenção de informações.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85213" y="5253476"/>
            <a:ext cx="3347271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Difere</a:t>
            </a:r>
            <a:r>
              <a:rPr lang="en-US" sz="2100">
                <a:solidFill>
                  <a:srgbClr val="8A9BB0"/>
                </a:solidFill>
                <a:latin typeface="Calibri (MS)"/>
                <a:ea typeface="Calibri (MS)"/>
                <a:cs typeface="Calibri (MS)"/>
                <a:sym typeface="Calibri (MS)"/>
              </a:rPr>
              <a:t>nte de resumos gerados ou PDFs que têm um fim, a plataforma permite pesquisa de profundidade infinita. O usuário pode ramificar qualquer nó específico em tempo real; a API injeta os novos dados e a simulação de física auto-organiza a rede, permitindo detalhar o micro sem perder a visão do macro.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66923" y="909323"/>
            <a:ext cx="4582163" cy="375923"/>
            <a:chOff x="0" y="0"/>
            <a:chExt cx="6109551" cy="501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9589" cy="501269"/>
            </a:xfrm>
            <a:custGeom>
              <a:avLst/>
              <a:gdLst/>
              <a:ahLst/>
              <a:cxnLst/>
              <a:rect r="r" b="b" t="t" l="l"/>
              <a:pathLst>
                <a:path h="501269" w="6109589">
                  <a:moveTo>
                    <a:pt x="0" y="0"/>
                  </a:moveTo>
                  <a:lnTo>
                    <a:pt x="6109589" y="50126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7490" r="0" b="-187483"/>
              </a:stretch>
            </a:blipFill>
            <a:ln w="1016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710923" y="1092203"/>
            <a:ext cx="3667763" cy="1107443"/>
            <a:chOff x="0" y="0"/>
            <a:chExt cx="4890351" cy="14765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90389" cy="1476629"/>
            </a:xfrm>
            <a:custGeom>
              <a:avLst/>
              <a:gdLst/>
              <a:ahLst/>
              <a:cxnLst/>
              <a:rect r="r" b="b" t="t" l="l"/>
              <a:pathLst>
                <a:path h="1476629" w="4890389">
                  <a:moveTo>
                    <a:pt x="0" y="0"/>
                  </a:moveTo>
                  <a:lnTo>
                    <a:pt x="4890389" y="147662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4532" r="0" b="-14529"/>
              </a:stretch>
            </a:blipFill>
            <a:ln w="1016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368523" y="2189483"/>
            <a:ext cx="558803" cy="4216403"/>
            <a:chOff x="0" y="0"/>
            <a:chExt cx="745071" cy="56218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5109" cy="5621909"/>
            </a:xfrm>
            <a:custGeom>
              <a:avLst/>
              <a:gdLst/>
              <a:ahLst/>
              <a:cxnLst/>
              <a:rect r="r" b="b" t="t" l="l"/>
              <a:pathLst>
                <a:path h="5621909" w="745109">
                  <a:moveTo>
                    <a:pt x="0" y="0"/>
                  </a:moveTo>
                  <a:lnTo>
                    <a:pt x="745109" y="5621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918057" t="0" r="-918051" b="0"/>
              </a:stretch>
            </a:blipFill>
            <a:ln w="1016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38923" y="1275083"/>
            <a:ext cx="924563" cy="8422643"/>
            <a:chOff x="0" y="0"/>
            <a:chExt cx="1232751" cy="11230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2789" cy="11230229"/>
            </a:xfrm>
            <a:custGeom>
              <a:avLst/>
              <a:gdLst/>
              <a:ahLst/>
              <a:cxnLst/>
              <a:rect r="r" b="b" t="t" l="l"/>
              <a:pathLst>
                <a:path h="11230229" w="1232789">
                  <a:moveTo>
                    <a:pt x="0" y="0"/>
                  </a:moveTo>
                  <a:lnTo>
                    <a:pt x="1232789" y="1123022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118793" t="0" r="-1118790" b="0"/>
              </a:stretch>
            </a:blipFill>
            <a:ln w="1016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0923" y="1092203"/>
            <a:ext cx="1838963" cy="8056883"/>
            <a:chOff x="0" y="0"/>
            <a:chExt cx="2451951" cy="10742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1989" cy="10742549"/>
            </a:xfrm>
            <a:custGeom>
              <a:avLst/>
              <a:gdLst/>
              <a:ahLst/>
              <a:cxnLst/>
              <a:rect r="r" b="b" t="t" l="l"/>
              <a:pathLst>
                <a:path h="10742549" w="2451989">
                  <a:moveTo>
                    <a:pt x="0" y="0"/>
                  </a:moveTo>
                  <a:lnTo>
                    <a:pt x="2451989" y="1074254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12116" t="0" r="-512115" b="0"/>
              </a:stretch>
            </a:blipFill>
            <a:ln w="10160" cap="sq">
              <a:solidFill>
                <a:srgbClr val="3A4A5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34262" y="1334262"/>
            <a:ext cx="257556" cy="257556"/>
            <a:chOff x="0" y="0"/>
            <a:chExt cx="343408" cy="343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00D4FF">
                <a:alpha val="48627"/>
              </a:srgbClr>
            </a:solidFill>
            <a:ln w="381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08176" y="1408176"/>
            <a:ext cx="109728" cy="109728"/>
            <a:chOff x="0" y="0"/>
            <a:chExt cx="146304" cy="1463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00D4FF">
                <a:alpha val="8078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43222" y="785622"/>
            <a:ext cx="257556" cy="257556"/>
            <a:chOff x="0" y="0"/>
            <a:chExt cx="343408" cy="343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FF9F43">
                <a:alpha val="48627"/>
              </a:srgbClr>
            </a:solidFill>
            <a:ln w="38100" cap="sq">
              <a:solidFill>
                <a:srgbClr val="FF9F4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517136" y="859536"/>
            <a:ext cx="109728" cy="109728"/>
            <a:chOff x="0" y="0"/>
            <a:chExt cx="146304" cy="1463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9F43">
                <a:alpha val="80784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015222" y="1151382"/>
            <a:ext cx="257556" cy="257556"/>
            <a:chOff x="0" y="0"/>
            <a:chExt cx="343408" cy="3434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00FF9C">
                <a:alpha val="48627"/>
              </a:srgbClr>
            </a:solidFill>
            <a:ln w="381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89136" y="1225296"/>
            <a:ext cx="109728" cy="109728"/>
            <a:chOff x="0" y="0"/>
            <a:chExt cx="146304" cy="146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00FF9C">
                <a:alpha val="80784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587222" y="968502"/>
            <a:ext cx="257556" cy="257556"/>
            <a:chOff x="0" y="0"/>
            <a:chExt cx="343408" cy="3434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00D4FF">
                <a:alpha val="48627"/>
              </a:srgbClr>
            </a:solidFill>
            <a:ln w="381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661136" y="1042416"/>
            <a:ext cx="109728" cy="109728"/>
            <a:chOff x="0" y="0"/>
            <a:chExt cx="146304" cy="1463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00D4FF">
                <a:alpha val="80784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244822" y="2065782"/>
            <a:ext cx="257556" cy="257556"/>
            <a:chOff x="0" y="0"/>
            <a:chExt cx="343408" cy="3434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F05458">
                <a:alpha val="48627"/>
              </a:srgbClr>
            </a:solidFill>
            <a:ln w="381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318736" y="2139696"/>
            <a:ext cx="109728" cy="109728"/>
            <a:chOff x="0" y="0"/>
            <a:chExt cx="146304" cy="14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05458">
                <a:alpha val="80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793462" y="6272022"/>
            <a:ext cx="257556" cy="257556"/>
            <a:chOff x="0" y="0"/>
            <a:chExt cx="343408" cy="3434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7867376" y="6345936"/>
            <a:ext cx="109728" cy="109728"/>
            <a:chOff x="0" y="0"/>
            <a:chExt cx="146304" cy="1463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416022" y="9015222"/>
            <a:ext cx="257556" cy="257556"/>
            <a:chOff x="0" y="0"/>
            <a:chExt cx="343408" cy="3434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489936" y="9089136"/>
            <a:ext cx="109728" cy="109728"/>
            <a:chOff x="0" y="0"/>
            <a:chExt cx="146304" cy="1463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528822" y="9198102"/>
            <a:ext cx="257556" cy="257556"/>
            <a:chOff x="0" y="0"/>
            <a:chExt cx="343408" cy="3434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FFD93D">
                <a:alpha val="48627"/>
              </a:srgbClr>
            </a:solidFill>
            <a:ln w="38100" cap="sq">
              <a:solidFill>
                <a:srgbClr val="FFD9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602736" y="9272016"/>
            <a:ext cx="109728" cy="109728"/>
            <a:chOff x="0" y="0"/>
            <a:chExt cx="146304" cy="1463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D93D">
                <a:alpha val="80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2742" y="7186422"/>
            <a:ext cx="257556" cy="257556"/>
            <a:chOff x="0" y="0"/>
            <a:chExt cx="343408" cy="3434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7B2FBE">
                <a:alpha val="48627"/>
              </a:srgbClr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6656" y="7260336"/>
            <a:ext cx="109728" cy="109728"/>
            <a:chOff x="0" y="0"/>
            <a:chExt cx="146304" cy="1463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7B2FBE">
                <a:alpha val="80784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36982" y="4443222"/>
            <a:ext cx="257556" cy="257556"/>
            <a:chOff x="0" y="0"/>
            <a:chExt cx="343408" cy="3434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3408" cy="343408"/>
            </a:xfrm>
            <a:custGeom>
              <a:avLst/>
              <a:gdLst/>
              <a:ahLst/>
              <a:cxnLst/>
              <a:rect r="r" b="b" t="t" l="l"/>
              <a:pathLst>
                <a:path h="343408" w="343408">
                  <a:moveTo>
                    <a:pt x="0" y="171704"/>
                  </a:moveTo>
                  <a:cubicBezTo>
                    <a:pt x="0" y="76835"/>
                    <a:pt x="76835" y="0"/>
                    <a:pt x="171704" y="0"/>
                  </a:cubicBezTo>
                  <a:cubicBezTo>
                    <a:pt x="266573" y="0"/>
                    <a:pt x="343408" y="76835"/>
                    <a:pt x="343408" y="171704"/>
                  </a:cubicBezTo>
                  <a:cubicBezTo>
                    <a:pt x="343408" y="266573"/>
                    <a:pt x="266573" y="343408"/>
                    <a:pt x="171704" y="343408"/>
                  </a:cubicBezTo>
                  <a:cubicBezTo>
                    <a:pt x="76835" y="343408"/>
                    <a:pt x="0" y="266573"/>
                    <a:pt x="0" y="171704"/>
                  </a:cubicBezTo>
                  <a:close/>
                </a:path>
              </a:pathLst>
            </a:custGeom>
            <a:solidFill>
              <a:srgbClr val="00FF9C">
                <a:alpha val="48627"/>
              </a:srgbClr>
            </a:solidFill>
            <a:ln w="38100" cap="sq">
              <a:solidFill>
                <a:srgbClr val="00FF9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310896" y="4517136"/>
            <a:ext cx="109728" cy="109728"/>
            <a:chOff x="0" y="0"/>
            <a:chExt cx="146304" cy="1463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00FF9C">
                <a:alpha val="80784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572000" y="914400"/>
            <a:ext cx="9144000" cy="8229600"/>
            <a:chOff x="0" y="0"/>
            <a:chExt cx="12192000" cy="1097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2192000">
                  <a:moveTo>
                    <a:pt x="0" y="5486400"/>
                  </a:moveTo>
                  <a:cubicBezTo>
                    <a:pt x="0" y="2456307"/>
                    <a:pt x="2729230" y="0"/>
                    <a:pt x="6096000" y="0"/>
                  </a:cubicBezTo>
                  <a:cubicBezTo>
                    <a:pt x="9462770" y="0"/>
                    <a:pt x="12192000" y="2456307"/>
                    <a:pt x="12192000" y="5486400"/>
                  </a:cubicBezTo>
                  <a:cubicBezTo>
                    <a:pt x="12192000" y="8516493"/>
                    <a:pt x="9462770" y="10972800"/>
                    <a:pt x="6096000" y="10972800"/>
                  </a:cubicBezTo>
                  <a:cubicBezTo>
                    <a:pt x="2729230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B2FBE">
                <a:alpha val="392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400800" y="2194560"/>
            <a:ext cx="5486400" cy="5486400"/>
            <a:chOff x="0" y="0"/>
            <a:chExt cx="7315200" cy="7315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00D4FF">
                <a:alpha val="0"/>
              </a:srgbClr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8465315" y="7237990"/>
            <a:ext cx="1357370" cy="1357370"/>
          </a:xfrm>
          <a:custGeom>
            <a:avLst/>
            <a:gdLst/>
            <a:ahLst/>
            <a:cxnLst/>
            <a:rect r="r" b="b" t="t" l="l"/>
            <a:pathLst>
              <a:path h="1357370" w="1357370">
                <a:moveTo>
                  <a:pt x="0" y="0"/>
                </a:moveTo>
                <a:lnTo>
                  <a:pt x="1357370" y="0"/>
                </a:lnTo>
                <a:lnTo>
                  <a:pt x="1357370" y="1357370"/>
                </a:lnTo>
                <a:lnTo>
                  <a:pt x="0" y="1357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280160" y="1645920"/>
            <a:ext cx="15727680" cy="3657600"/>
            <a:chOff x="0" y="0"/>
            <a:chExt cx="20970240" cy="4876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970239" cy="4876800"/>
            </a:xfrm>
            <a:custGeom>
              <a:avLst/>
              <a:gdLst/>
              <a:ahLst/>
              <a:cxnLst/>
              <a:rect r="r" b="b" t="t" l="l"/>
              <a:pathLst>
                <a:path h="48768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61925"/>
              <a:ext cx="20970240" cy="503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futuro do aprendizado</a:t>
              </a:r>
            </a:p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não é </a:t>
              </a:r>
            </a:p>
            <a:p>
              <a:pPr algn="ctr">
                <a:lnSpc>
                  <a:spcPts val="10080"/>
                </a:lnSpc>
              </a:pPr>
              <a:r>
                <a:rPr lang="en-US" b="true" sz="8400" i="true">
                  <a:solidFill>
                    <a:srgbClr val="8A9BB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ler</a:t>
              </a: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80160" y="5212080"/>
            <a:ext cx="15727680" cy="1828800"/>
            <a:chOff x="0" y="0"/>
            <a:chExt cx="20970240" cy="2438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9702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61925"/>
              <a:ext cx="20970240" cy="2600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 </a:t>
              </a:r>
              <a:r>
                <a:rPr lang="en-US" b="true" sz="8400" i="true">
                  <a:solidFill>
                    <a:srgbClr val="00D4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caminhar</a:t>
              </a: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4400" y="8595360"/>
            <a:ext cx="16459200" cy="1362507"/>
            <a:chOff x="0" y="0"/>
            <a:chExt cx="21945600" cy="18166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45600" cy="1816676"/>
            </a:xfrm>
            <a:custGeom>
              <a:avLst/>
              <a:gdLst/>
              <a:ahLst/>
              <a:cxnLst/>
              <a:rect r="r" b="b" t="t" l="l"/>
              <a:pathLst>
                <a:path h="181667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16676"/>
                  </a:lnTo>
                  <a:lnTo>
                    <a:pt x="0" y="18166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02" r="0" b="-18235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21945600" cy="1807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Mind</a:t>
              </a:r>
              <a:r>
                <a:rPr lang="en-US" sz="6400" b="true">
                  <a:solidFill>
                    <a:srgbClr val="00D4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Verse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DAHMHoPYanI</dc:identifier>
  <dcterms:modified xsi:type="dcterms:W3CDTF">2011-08-01T06:04:30Z</dcterms:modified>
  <cp:revision>1</cp:revision>
  <dc:title>MindVerse_Pitch.pptx</dc:title>
</cp:coreProperties>
</file>